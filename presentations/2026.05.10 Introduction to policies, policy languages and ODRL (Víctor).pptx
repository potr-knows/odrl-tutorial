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wdp" ContentType="image/vnd.ms-photo"/>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9"/>
  </p:notesMasterIdLst>
  <p:handoutMasterIdLst>
    <p:handoutMasterId r:id="rId50"/>
  </p:handoutMasterIdLst>
  <p:sldIdLst>
    <p:sldId id="2211" r:id="rId2"/>
    <p:sldId id="2220" r:id="rId3"/>
    <p:sldId id="2212" r:id="rId4"/>
    <p:sldId id="2213" r:id="rId5"/>
    <p:sldId id="2214" r:id="rId6"/>
    <p:sldId id="2215" r:id="rId7"/>
    <p:sldId id="2216" r:id="rId8"/>
    <p:sldId id="2217" r:id="rId9"/>
    <p:sldId id="2218" r:id="rId10"/>
    <p:sldId id="2219" r:id="rId11"/>
    <p:sldId id="2221" r:id="rId12"/>
    <p:sldId id="2222" r:id="rId13"/>
    <p:sldId id="2223" r:id="rId14"/>
    <p:sldId id="2228" r:id="rId15"/>
    <p:sldId id="2229" r:id="rId16"/>
    <p:sldId id="2234" r:id="rId17"/>
    <p:sldId id="2233" r:id="rId18"/>
    <p:sldId id="2230" r:id="rId19"/>
    <p:sldId id="2231" r:id="rId20"/>
    <p:sldId id="2232" r:id="rId21"/>
    <p:sldId id="2237" r:id="rId22"/>
    <p:sldId id="2238" r:id="rId23"/>
    <p:sldId id="2239" r:id="rId24"/>
    <p:sldId id="2244" r:id="rId25"/>
    <p:sldId id="2245" r:id="rId26"/>
    <p:sldId id="2225" r:id="rId27"/>
    <p:sldId id="2235" r:id="rId28"/>
    <p:sldId id="2236" r:id="rId29"/>
    <p:sldId id="2242" r:id="rId30"/>
    <p:sldId id="2243" r:id="rId31"/>
    <p:sldId id="2241" r:id="rId32"/>
    <p:sldId id="2248" r:id="rId33"/>
    <p:sldId id="2247" r:id="rId34"/>
    <p:sldId id="2246" r:id="rId35"/>
    <p:sldId id="2224" r:id="rId36"/>
    <p:sldId id="282" r:id="rId37"/>
    <p:sldId id="260" r:id="rId38"/>
    <p:sldId id="262" r:id="rId39"/>
    <p:sldId id="285" r:id="rId40"/>
    <p:sldId id="286" r:id="rId41"/>
    <p:sldId id="263" r:id="rId42"/>
    <p:sldId id="264" r:id="rId43"/>
    <p:sldId id="266" r:id="rId44"/>
    <p:sldId id="267" r:id="rId45"/>
    <p:sldId id="268" r:id="rId46"/>
    <p:sldId id="269" r:id="rId47"/>
    <p:sldId id="270" r:id="rId48"/>
  </p:sldIdLst>
  <p:sldSz cx="9144000" cy="6858000" type="screen4x3"/>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E38B"/>
    <a:srgbClr val="007434"/>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603" autoAdjust="0"/>
    <p:restoredTop sz="91755" autoAdjust="0"/>
  </p:normalViewPr>
  <p:slideViewPr>
    <p:cSldViewPr>
      <p:cViewPr varScale="1">
        <p:scale>
          <a:sx n="62" d="100"/>
          <a:sy n="62" d="100"/>
        </p:scale>
        <p:origin x="708" y="44"/>
      </p:cViewPr>
      <p:guideLst>
        <p:guide orient="horz" pos="2160"/>
        <p:guide pos="2880"/>
      </p:guideLst>
    </p:cSldViewPr>
  </p:slideViewPr>
  <p:outlineViewPr>
    <p:cViewPr>
      <p:scale>
        <a:sx n="33" d="100"/>
        <a:sy n="33" d="100"/>
      </p:scale>
      <p:origin x="0" y="-41596"/>
    </p:cViewPr>
  </p:outlineViewPr>
  <p:notesTextViewPr>
    <p:cViewPr>
      <p:scale>
        <a:sx n="125" d="100"/>
        <a:sy n="125" d="100"/>
      </p:scale>
      <p:origin x="0" y="0"/>
    </p:cViewPr>
  </p:notesTextViewPr>
  <p:sorterViewPr>
    <p:cViewPr>
      <p:scale>
        <a:sx n="100" d="100"/>
        <a:sy n="100" d="100"/>
      </p:scale>
      <p:origin x="0" y="-12472"/>
    </p:cViewPr>
  </p:sorterViewPr>
  <p:notesViewPr>
    <p:cSldViewPr>
      <p:cViewPr varScale="1">
        <p:scale>
          <a:sx n="51" d="100"/>
          <a:sy n="51" d="100"/>
        </p:scale>
        <p:origin x="2692" y="5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handoutMaster" Target="handoutMasters/handout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84C02185-AC29-4C61-86D2-2AC558E4756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E694EDF2-EB54-49BE-8362-B5F286FE608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0074220-0934-4CD6-8D6E-5260D5CCE2DB}" type="datetimeFigureOut">
              <a:rPr lang="es-ES" smtClean="0"/>
              <a:t>27/04/2026</a:t>
            </a:fld>
            <a:endParaRPr lang="es-ES"/>
          </a:p>
        </p:txBody>
      </p:sp>
      <p:sp>
        <p:nvSpPr>
          <p:cNvPr id="4" name="Marcador de pie de página 3">
            <a:extLst>
              <a:ext uri="{FF2B5EF4-FFF2-40B4-BE49-F238E27FC236}">
                <a16:creationId xmlns:a16="http://schemas.microsoft.com/office/drawing/2014/main" id="{CF1496FA-B29B-46A2-9DDA-602627F16462}"/>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BC1509DC-62AC-4BFB-9B73-2F3388629D8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1A1455D-5444-4284-A45E-B2DFB96DBA96}" type="slidenum">
              <a:rPr lang="es-ES" smtClean="0"/>
              <a:t>‹Nº›</a:t>
            </a:fld>
            <a:endParaRPr lang="es-ES"/>
          </a:p>
        </p:txBody>
      </p:sp>
    </p:spTree>
    <p:extLst>
      <p:ext uri="{BB962C8B-B14F-4D97-AF65-F5344CB8AC3E}">
        <p14:creationId xmlns:p14="http://schemas.microsoft.com/office/powerpoint/2010/main" val="13671578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1 Marcador de encabezado"/>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s-ES"/>
          </a:p>
        </p:txBody>
      </p:sp>
      <p:sp>
        <p:nvSpPr>
          <p:cNvPr id="3" name="2 Marcador de fecha"/>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1921073C-35CF-45D9-9AA2-F6F1DEA40B9C}" type="datetimeFigureOut">
              <a:rPr lang="es-ES" smtClean="0"/>
              <a:pPr/>
              <a:t>27/04/2026</a:t>
            </a:fld>
            <a:endParaRPr lang="es-ES"/>
          </a:p>
        </p:txBody>
      </p:sp>
      <p:sp>
        <p:nvSpPr>
          <p:cNvPr id="4" name="3 Marcador de imagen de diapositiva"/>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s-ES"/>
          </a:p>
        </p:txBody>
      </p:sp>
      <p:sp>
        <p:nvSpPr>
          <p:cNvPr id="5" name="4 Marcador de notas"/>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5 Marcador de pie de página"/>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s-ES"/>
          </a:p>
        </p:txBody>
      </p:sp>
      <p:sp>
        <p:nvSpPr>
          <p:cNvPr id="7" name="6 Marcador de número de diapositiva"/>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E67A30B6-EE9A-426F-904D-B75BFB3766AB}" type="slidenum">
              <a:rPr lang="es-ES" smtClean="0"/>
              <a:pPr/>
              <a:t>‹Nº›</a:t>
            </a:fld>
            <a:endParaRPr lang="es-ES"/>
          </a:p>
        </p:txBody>
      </p:sp>
    </p:spTree>
    <p:extLst>
      <p:ext uri="{BB962C8B-B14F-4D97-AF65-F5344CB8AC3E}">
        <p14:creationId xmlns:p14="http://schemas.microsoft.com/office/powerpoint/2010/main" val="6192838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lstStyle/>
          <a:p>
            <a:endParaRPr lang="es-ES"/>
          </a:p>
        </p:txBody>
      </p:sp>
      <p:sp>
        <p:nvSpPr>
          <p:cNvPr id="4" name="3 Marcador de número de diapositiva"/>
          <p:cNvSpPr>
            <a:spLocks noGrp="1"/>
          </p:cNvSpPr>
          <p:nvPr>
            <p:ph type="sldNum" sz="quarter" idx="10"/>
          </p:nvPr>
        </p:nvSpPr>
        <p:spPr/>
        <p:txBody>
          <a:bodyPr/>
          <a:lstStyle/>
          <a:p>
            <a:fld id="{E67A30B6-EE9A-426F-904D-B75BFB3766AB}" type="slidenum">
              <a:rPr lang="es-ES" smtClean="0"/>
              <a:pPr/>
              <a:t>1</a:t>
            </a:fld>
            <a:endParaRPr lang="es-ES"/>
          </a:p>
        </p:txBody>
      </p:sp>
    </p:spTree>
    <p:extLst>
      <p:ext uri="{BB962C8B-B14F-4D97-AF65-F5344CB8AC3E}">
        <p14:creationId xmlns:p14="http://schemas.microsoft.com/office/powerpoint/2010/main" val="10510266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a:t>Under Directive (EU) 2019/790 (Art. 4), Text and Data Mining is permitted by default, unless the rightholder expressly reserves their rights; </a:t>
            </a:r>
          </a:p>
          <a:p>
            <a:r>
              <a:rPr lang="en-US"/>
              <a:t>A machine-readable signal such as robots.txt constitutes such a reservation, thereby removing the exception and subjecting TDM to the underlying exclusive rights (e.g. copyright or database rights).</a:t>
            </a:r>
          </a:p>
          <a:p>
            <a:endParaRPr lang="es-ES"/>
          </a:p>
        </p:txBody>
      </p:sp>
      <p:sp>
        <p:nvSpPr>
          <p:cNvPr id="4" name="Marcador de número de diapositiva 3"/>
          <p:cNvSpPr>
            <a:spLocks noGrp="1"/>
          </p:cNvSpPr>
          <p:nvPr>
            <p:ph type="sldNum" sz="quarter" idx="5"/>
          </p:nvPr>
        </p:nvSpPr>
        <p:spPr/>
        <p:txBody>
          <a:bodyPr/>
          <a:lstStyle/>
          <a:p>
            <a:fld id="{E67A30B6-EE9A-426F-904D-B75BFB3766AB}" type="slidenum">
              <a:rPr lang="es-ES" smtClean="0"/>
              <a:pPr/>
              <a:t>6</a:t>
            </a:fld>
            <a:endParaRPr lang="es-ES"/>
          </a:p>
        </p:txBody>
      </p:sp>
    </p:spTree>
    <p:extLst>
      <p:ext uri="{BB962C8B-B14F-4D97-AF65-F5344CB8AC3E}">
        <p14:creationId xmlns:p14="http://schemas.microsoft.com/office/powerpoint/2010/main" val="3296815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a:t>Under Directive (EU) 2019/790 (Art. 4), Text and Data Mining is permitted by default, unless the rightholder expressly reserves their rights; </a:t>
            </a:r>
          </a:p>
          <a:p>
            <a:r>
              <a:rPr lang="en-US"/>
              <a:t>A machine-readable signal such as robots.txt constitutes such a reservation, thereby removing the exception and subjecting TDM to the underlying exclusive rights (e.g. copyright or database rights).</a:t>
            </a:r>
          </a:p>
          <a:p>
            <a:endParaRPr lang="es-ES"/>
          </a:p>
        </p:txBody>
      </p:sp>
      <p:sp>
        <p:nvSpPr>
          <p:cNvPr id="4" name="Marcador de número de diapositiva 3"/>
          <p:cNvSpPr>
            <a:spLocks noGrp="1"/>
          </p:cNvSpPr>
          <p:nvPr>
            <p:ph type="sldNum" sz="quarter" idx="5"/>
          </p:nvPr>
        </p:nvSpPr>
        <p:spPr/>
        <p:txBody>
          <a:bodyPr/>
          <a:lstStyle/>
          <a:p>
            <a:fld id="{E67A30B6-EE9A-426F-904D-B75BFB3766AB}" type="slidenum">
              <a:rPr lang="es-ES" smtClean="0"/>
              <a:pPr/>
              <a:t>7</a:t>
            </a:fld>
            <a:endParaRPr lang="es-ES"/>
          </a:p>
        </p:txBody>
      </p:sp>
    </p:spTree>
    <p:extLst>
      <p:ext uri="{BB962C8B-B14F-4D97-AF65-F5344CB8AC3E}">
        <p14:creationId xmlns:p14="http://schemas.microsoft.com/office/powerpoint/2010/main" val="29756274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 crawler can ignore my policy</a:t>
            </a:r>
          </a:p>
        </p:txBody>
      </p:sp>
      <p:sp>
        <p:nvSpPr>
          <p:cNvPr id="4" name="Marcador de número de diapositiva 3"/>
          <p:cNvSpPr>
            <a:spLocks noGrp="1"/>
          </p:cNvSpPr>
          <p:nvPr>
            <p:ph type="sldNum" sz="quarter" idx="5"/>
          </p:nvPr>
        </p:nvSpPr>
        <p:spPr/>
        <p:txBody>
          <a:bodyPr/>
          <a:lstStyle/>
          <a:p>
            <a:fld id="{E67A30B6-EE9A-426F-904D-B75BFB3766AB}" type="slidenum">
              <a:rPr lang="es-ES" smtClean="0"/>
              <a:pPr/>
              <a:t>8</a:t>
            </a:fld>
            <a:endParaRPr lang="es-ES"/>
          </a:p>
        </p:txBody>
      </p:sp>
    </p:spTree>
    <p:extLst>
      <p:ext uri="{BB962C8B-B14F-4D97-AF65-F5344CB8AC3E}">
        <p14:creationId xmlns:p14="http://schemas.microsoft.com/office/powerpoint/2010/main" val="9755798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a:t>Under Directive (EU) 2019/790 (Art. 4), Text and Data Mining is permitted by default, unless the rightholder expressly reserves their rights; </a:t>
            </a:r>
          </a:p>
          <a:p>
            <a:r>
              <a:rPr lang="en-US"/>
              <a:t>A machine-readable signal such as robots.txt constitutes such a reservation, thereby removing the exception and subjecting TDM to the underlying exclusive rights (e.g. copyright or database rights).</a:t>
            </a:r>
          </a:p>
          <a:p>
            <a:endParaRPr lang="es-ES"/>
          </a:p>
        </p:txBody>
      </p:sp>
      <p:sp>
        <p:nvSpPr>
          <p:cNvPr id="4" name="Marcador de número de diapositiva 3"/>
          <p:cNvSpPr>
            <a:spLocks noGrp="1"/>
          </p:cNvSpPr>
          <p:nvPr>
            <p:ph type="sldNum" sz="quarter" idx="5"/>
          </p:nvPr>
        </p:nvSpPr>
        <p:spPr/>
        <p:txBody>
          <a:bodyPr/>
          <a:lstStyle/>
          <a:p>
            <a:fld id="{E67A30B6-EE9A-426F-904D-B75BFB3766AB}" type="slidenum">
              <a:rPr lang="es-ES" smtClean="0"/>
              <a:pPr/>
              <a:t>9</a:t>
            </a:fld>
            <a:endParaRPr lang="es-ES"/>
          </a:p>
        </p:txBody>
      </p:sp>
    </p:spTree>
    <p:extLst>
      <p:ext uri="{BB962C8B-B14F-4D97-AF65-F5344CB8AC3E}">
        <p14:creationId xmlns:p14="http://schemas.microsoft.com/office/powerpoint/2010/main" val="33628436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a:t>Access Control Lists</a:t>
            </a:r>
          </a:p>
          <a:p>
            <a:endParaRPr lang="en-US"/>
          </a:p>
          <a:p>
            <a:r>
              <a:rPr lang="en-US"/>
              <a:t>Access control lists are the oldest and most basic form of access control. This type was primarily adopted for use in operating systems. This maintains a set of users and operations that can be performed on a resource as a mapping. This is easy to implement due to the use of maps. However, this is not scalable for larger user bases and can become difficult to manage.</a:t>
            </a:r>
          </a:p>
          <a:p>
            <a:r>
              <a:rPr lang="en-US"/>
              <a:t>Role-based Access Control</a:t>
            </a:r>
          </a:p>
          <a:p>
            <a:endParaRPr lang="en-US"/>
          </a:p>
          <a:p>
            <a:r>
              <a:rPr lang="en-US"/>
              <a:t>Role-based Access Control (RBAC) is an approach used to restrict access to authorized users based on their role. This is a static permission model which provides access control. It is used by the majority of enterprises with more than 500 users.</a:t>
            </a:r>
          </a:p>
          <a:p>
            <a:endParaRPr lang="en-US"/>
          </a:p>
          <a:p>
            <a:r>
              <a:rPr lang="en-US"/>
              <a:t>This access control type is used when all users are categorized into different roles. The roles define the resources that can be accessed by users assigned to that role. This type of access control reduces management overhead. These users and roles can also be externalized using user stores. These roles need to be managed carefully. There can be instances where a user is assigned to multiple roles. This is a subset of ABAC.</a:t>
            </a:r>
          </a:p>
          <a:p>
            <a:endParaRPr lang="en-US"/>
          </a:p>
          <a:p>
            <a:r>
              <a:rPr lang="en-US"/>
              <a:t>Static permissions for roles can be given by updating permission tree in WSO2 Identity Server. Click here for information on Configuring roles and permissions.</a:t>
            </a:r>
          </a:p>
          <a:p>
            <a:endParaRPr lang="en-US"/>
          </a:p>
          <a:p>
            <a:r>
              <a:rPr lang="en-US"/>
              <a:t>Attribute-based Access Control</a:t>
            </a:r>
          </a:p>
          <a:p>
            <a:endParaRPr lang="en-US"/>
          </a:p>
          <a:p>
            <a:r>
              <a:rPr lang="en-US"/>
              <a:t>Attribute-based access control (ABAC) defines a new access control paradigm whereby access rights are granted to users through the use of policies that combine attributes together.</a:t>
            </a:r>
          </a:p>
          <a:p>
            <a:endParaRPr lang="en-US"/>
          </a:p>
          <a:p>
            <a:r>
              <a:rPr lang="en-US"/>
              <a:t>Here, authorization happens based on attributes. This access control type addresses the limitations of role-based access control to provide a more fine-grained approach. This can be based on the attributes of the user, the environment, or even the resource itself. This is more flexible when compared with the role-based approach. There is no need to know the user prior to granting access.</a:t>
            </a:r>
          </a:p>
          <a:p>
            <a:endParaRPr lang="en-US"/>
          </a:p>
          <a:p>
            <a:r>
              <a:rPr lang="en-US"/>
              <a:t>Policy-based Access Control</a:t>
            </a:r>
          </a:p>
          <a:p>
            <a:endParaRPr lang="en-US"/>
          </a:p>
          <a:p>
            <a:r>
              <a:rPr lang="en-US"/>
              <a:t>This type of access control addresses the requirement to have a more uniform access control mechanism. This helps larger enterprises to have uniform access control for the large amount of organizational units. This is helpful when carrying out security audits.</a:t>
            </a:r>
          </a:p>
          <a:p>
            <a:endParaRPr lang="en-US"/>
          </a:p>
          <a:p>
            <a:r>
              <a:rPr lang="en-US"/>
              <a:t>This is the most complex form of access control. This involves specifying policies unambiguously using XACML and using authorized attribute sources in the enterprise. Here Policy Based Access Control(PBAC) (also called Rule-based access control) is an extension of ABAC where attributes are used in writing policies.</a:t>
            </a:r>
            <a:endParaRPr lang="es-ES"/>
          </a:p>
        </p:txBody>
      </p:sp>
      <p:sp>
        <p:nvSpPr>
          <p:cNvPr id="4" name="Marcador de número de diapositiva 3"/>
          <p:cNvSpPr>
            <a:spLocks noGrp="1"/>
          </p:cNvSpPr>
          <p:nvPr>
            <p:ph type="sldNum" sz="quarter" idx="5"/>
          </p:nvPr>
        </p:nvSpPr>
        <p:spPr/>
        <p:txBody>
          <a:bodyPr/>
          <a:lstStyle/>
          <a:p>
            <a:fld id="{E67A30B6-EE9A-426F-904D-B75BFB3766AB}" type="slidenum">
              <a:rPr lang="es-ES" smtClean="0"/>
              <a:pPr/>
              <a:t>15</a:t>
            </a:fld>
            <a:endParaRPr lang="es-ES"/>
          </a:p>
        </p:txBody>
      </p:sp>
    </p:spTree>
    <p:extLst>
      <p:ext uri="{BB962C8B-B14F-4D97-AF65-F5344CB8AC3E}">
        <p14:creationId xmlns:p14="http://schemas.microsoft.com/office/powerpoint/2010/main" val="29216852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ContentGuard's solution, Evolution</a:t>
            </a:r>
          </a:p>
        </p:txBody>
      </p:sp>
    </p:spTree>
    <p:extLst>
      <p:ext uri="{BB962C8B-B14F-4D97-AF65-F5344CB8AC3E}">
        <p14:creationId xmlns:p14="http://schemas.microsoft.com/office/powerpoint/2010/main" val="15227055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https://www.w3.org/2012/09/odrl/archive/odrl.net/</a:t>
            </a:r>
          </a:p>
        </p:txBody>
      </p:sp>
    </p:spTree>
    <p:extLst>
      <p:ext uri="{BB962C8B-B14F-4D97-AF65-F5344CB8AC3E}">
        <p14:creationId xmlns:p14="http://schemas.microsoft.com/office/powerpoint/2010/main" val="298160340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crs cadidate recommendations</a:t>
            </a:r>
          </a:p>
          <a:p>
            <a:r>
              <a:rPr lang="es-ES"/>
              <a:t>pr proposed recommendation</a:t>
            </a:r>
          </a:p>
        </p:txBody>
      </p:sp>
    </p:spTree>
    <p:extLst>
      <p:ext uri="{BB962C8B-B14F-4D97-AF65-F5344CB8AC3E}">
        <p14:creationId xmlns:p14="http://schemas.microsoft.com/office/powerpoint/2010/main" val="40523101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a:t>he ODRL model permits</a:t>
            </a:r>
          </a:p>
          <a:p>
            <a:r>
              <a:rPr lang="en-US"/>
              <a:t>two ways of linking parties or assets with policies. This transformation maps external refer-</a:t>
            </a:r>
          </a:p>
          <a:p>
            <a:r>
              <a:rPr lang="en-US"/>
              <a:t>ences to Policy, Assignee, or Assigner using odrl:hasPolicy, odrl:assignerOf, and</a:t>
            </a:r>
          </a:p>
          <a:p>
            <a:r>
              <a:rPr lang="en-US"/>
              <a:t>odrl:assigneeOf, generating new RDF triples with odrl:target, odrl:assigner,</a:t>
            </a:r>
          </a:p>
          <a:p>
            <a:r>
              <a:rPr lang="en-US"/>
              <a:t>and odrl:assignee while preserving multiple instances of these entities.</a:t>
            </a:r>
            <a:endParaRPr lang="es-ES"/>
          </a:p>
        </p:txBody>
      </p:sp>
    </p:spTree>
    <p:extLst>
      <p:ext uri="{BB962C8B-B14F-4D97-AF65-F5344CB8AC3E}">
        <p14:creationId xmlns:p14="http://schemas.microsoft.com/office/powerpoint/2010/main" val="1864081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ítulo">
    <p:spTree>
      <p:nvGrpSpPr>
        <p:cNvPr id="1" name=""/>
        <p:cNvGrpSpPr/>
        <p:nvPr/>
      </p:nvGrpSpPr>
      <p:grpSpPr>
        <a:xfrm>
          <a:off x="0" y="0"/>
          <a:ext cx="0" cy="0"/>
          <a:chOff x="0" y="0"/>
          <a:chExt cx="0" cy="0"/>
        </a:xfrm>
      </p:grpSpPr>
      <p:sp>
        <p:nvSpPr>
          <p:cNvPr id="2" name="1 Título"/>
          <p:cNvSpPr>
            <a:spLocks noGrp="1"/>
          </p:cNvSpPr>
          <p:nvPr>
            <p:ph type="ctrTitle"/>
          </p:nvPr>
        </p:nvSpPr>
        <p:spPr>
          <a:xfrm>
            <a:off x="685800" y="1052737"/>
            <a:ext cx="7772400" cy="2547714"/>
          </a:xfrm>
        </p:spPr>
        <p:txBody>
          <a:bodyPr/>
          <a:lstStyle>
            <a:lvl1pPr>
              <a:defRPr sz="4400"/>
            </a:lvl1pPr>
          </a:lstStyle>
          <a:p>
            <a:r>
              <a:rPr lang="es-ES"/>
              <a:t>Haga clic para modificar el estilo de título del patrón</a:t>
            </a:r>
          </a:p>
        </p:txBody>
      </p:sp>
      <p:sp>
        <p:nvSpPr>
          <p:cNvPr id="3" name="2 Subtítulo"/>
          <p:cNvSpPr>
            <a:spLocks noGrp="1"/>
          </p:cNvSpPr>
          <p:nvPr>
            <p:ph type="subTitle" idx="1" hasCustomPrompt="1"/>
          </p:nvPr>
        </p:nvSpPr>
        <p:spPr>
          <a:xfrm>
            <a:off x="1371600" y="3886200"/>
            <a:ext cx="6400800" cy="1054968"/>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
              <a:t>Mi nombre y filiación</a:t>
            </a:r>
          </a:p>
        </p:txBody>
      </p:sp>
      <p:sp>
        <p:nvSpPr>
          <p:cNvPr id="4" name="3 Marcador de fecha"/>
          <p:cNvSpPr>
            <a:spLocks noGrp="1"/>
          </p:cNvSpPr>
          <p:nvPr>
            <p:ph type="dt" sz="half" idx="10"/>
          </p:nvPr>
        </p:nvSpPr>
        <p:spPr/>
        <p:txBody>
          <a:bodyPr/>
          <a:lstStyle/>
          <a:p>
            <a:fld id="{C1EE7CDB-6AF2-47D5-9040-89686769F562}" type="datetime1">
              <a:rPr lang="es-ES" smtClean="0"/>
              <a:t>27/04/2026</a:t>
            </a:fld>
            <a:endParaRPr lang="es-ES"/>
          </a:p>
        </p:txBody>
      </p:sp>
      <p:sp>
        <p:nvSpPr>
          <p:cNvPr id="8" name="Marcador de texto 7">
            <a:extLst>
              <a:ext uri="{FF2B5EF4-FFF2-40B4-BE49-F238E27FC236}">
                <a16:creationId xmlns:a16="http://schemas.microsoft.com/office/drawing/2014/main" id="{F1578AB8-F991-47DC-B130-218B85FA5F70}"/>
              </a:ext>
            </a:extLst>
          </p:cNvPr>
          <p:cNvSpPr>
            <a:spLocks noGrp="1"/>
          </p:cNvSpPr>
          <p:nvPr>
            <p:ph type="body" sz="quarter" idx="11" hasCustomPrompt="1"/>
          </p:nvPr>
        </p:nvSpPr>
        <p:spPr>
          <a:xfrm>
            <a:off x="457200" y="5373216"/>
            <a:ext cx="8435280" cy="863724"/>
          </a:xfrm>
        </p:spPr>
        <p:txBody>
          <a:bodyPr>
            <a:normAutofit/>
          </a:bodyPr>
          <a:lstStyle>
            <a:lvl1pPr marL="0" indent="0" algn="ctr">
              <a:buNone/>
              <a:defRPr sz="2400">
                <a:solidFill>
                  <a:schemeClr val="tx1">
                    <a:lumMod val="50000"/>
                    <a:lumOff val="50000"/>
                  </a:schemeClr>
                </a:solidFill>
              </a:defRPr>
            </a:lvl1pPr>
          </a:lstStyle>
          <a:p>
            <a:pPr lvl="0"/>
            <a:r>
              <a:rPr lang="es-ES"/>
              <a:t>Evento</a:t>
            </a:r>
          </a:p>
          <a:p>
            <a:pPr lvl="0"/>
            <a:r>
              <a:rPr lang="es-ES"/>
              <a:t>Lugar y fecha</a:t>
            </a:r>
          </a:p>
        </p:txBody>
      </p:sp>
    </p:spTree>
    <p:extLst>
      <p:ext uri="{BB962C8B-B14F-4D97-AF65-F5344CB8AC3E}">
        <p14:creationId xmlns:p14="http://schemas.microsoft.com/office/powerpoint/2010/main" val="10344896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Normal">
    <p:spTree>
      <p:nvGrpSpPr>
        <p:cNvPr id="1" name=""/>
        <p:cNvGrpSpPr/>
        <p:nvPr/>
      </p:nvGrpSpPr>
      <p:grpSpPr>
        <a:xfrm>
          <a:off x="0" y="0"/>
          <a:ext cx="0" cy="0"/>
          <a:chOff x="0" y="0"/>
          <a:chExt cx="0" cy="0"/>
        </a:xfrm>
      </p:grpSpPr>
      <p:sp>
        <p:nvSpPr>
          <p:cNvPr id="2" name="1 Título"/>
          <p:cNvSpPr>
            <a:spLocks noGrp="1"/>
          </p:cNvSpPr>
          <p:nvPr>
            <p:ph type="title"/>
          </p:nvPr>
        </p:nvSpPr>
        <p:spPr>
          <a:xfrm>
            <a:off x="611560" y="274638"/>
            <a:ext cx="7344816" cy="1143000"/>
          </a:xfrm>
        </p:spPr>
        <p:txBody>
          <a:bodyPr>
            <a:noAutofit/>
          </a:bodyPr>
          <a:lstStyle>
            <a:lvl1pPr>
              <a:defRPr sz="4000"/>
            </a:lvl1pPr>
          </a:lstStyle>
          <a:p>
            <a:r>
              <a:rPr lang="es-ES"/>
              <a:t>Haga clic para modificar el estilo de título del patrón</a:t>
            </a:r>
          </a:p>
        </p:txBody>
      </p:sp>
      <p:sp>
        <p:nvSpPr>
          <p:cNvPr id="3" name="2 Marcador de contenido"/>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3 Marcador de fecha"/>
          <p:cNvSpPr>
            <a:spLocks noGrp="1"/>
          </p:cNvSpPr>
          <p:nvPr>
            <p:ph type="dt" sz="half" idx="10"/>
          </p:nvPr>
        </p:nvSpPr>
        <p:spPr/>
        <p:txBody>
          <a:bodyPr/>
          <a:lstStyle/>
          <a:p>
            <a:fld id="{BB683FE4-A321-4D1C-A617-C18348B0FAEE}" type="datetime1">
              <a:rPr lang="es-ES" smtClean="0"/>
              <a:t>27/04/2026</a:t>
            </a:fld>
            <a:endParaRPr lang="es-ES"/>
          </a:p>
        </p:txBody>
      </p:sp>
      <p:sp>
        <p:nvSpPr>
          <p:cNvPr id="5" name="4 Marcador de pie de página"/>
          <p:cNvSpPr>
            <a:spLocks noGrp="1"/>
          </p:cNvSpPr>
          <p:nvPr>
            <p:ph type="ftr" sz="quarter" idx="11"/>
          </p:nvPr>
        </p:nvSpPr>
        <p:spPr/>
        <p:txBody>
          <a:bodyPr/>
          <a:lstStyle/>
          <a:p>
            <a:endParaRPr lang="es-ES"/>
          </a:p>
        </p:txBody>
      </p:sp>
      <p:sp>
        <p:nvSpPr>
          <p:cNvPr id="6" name="5 Marcador de número de diapositiva"/>
          <p:cNvSpPr>
            <a:spLocks noGrp="1"/>
          </p:cNvSpPr>
          <p:nvPr>
            <p:ph type="sldNum" sz="quarter" idx="12"/>
          </p:nvPr>
        </p:nvSpPr>
        <p:spPr>
          <a:xfrm>
            <a:off x="6992064" y="6486291"/>
            <a:ext cx="2133600" cy="365125"/>
          </a:xfrm>
        </p:spPr>
        <p:txBody>
          <a:bodyPr/>
          <a:lstStyle/>
          <a:p>
            <a:fld id="{989033DA-4FB3-4863-BE40-35B8BF45D7BC}" type="slidenum">
              <a:rPr lang="es-ES" smtClean="0"/>
              <a:pPr/>
              <a:t>‹Nº›</a:t>
            </a:fld>
            <a:endParaRPr lang="es-ES"/>
          </a:p>
        </p:txBody>
      </p:sp>
    </p:spTree>
    <p:extLst>
      <p:ext uri="{BB962C8B-B14F-4D97-AF65-F5344CB8AC3E}">
        <p14:creationId xmlns:p14="http://schemas.microsoft.com/office/powerpoint/2010/main" val="21445151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mpacto">
    <p:spTree>
      <p:nvGrpSpPr>
        <p:cNvPr id="1" name=""/>
        <p:cNvGrpSpPr/>
        <p:nvPr/>
      </p:nvGrpSpPr>
      <p:grpSpPr>
        <a:xfrm>
          <a:off x="0" y="0"/>
          <a:ext cx="0" cy="0"/>
          <a:chOff x="0" y="0"/>
          <a:chExt cx="0" cy="0"/>
        </a:xfrm>
      </p:grpSpPr>
      <p:sp>
        <p:nvSpPr>
          <p:cNvPr id="2" name="1 Título"/>
          <p:cNvSpPr>
            <a:spLocks noGrp="1"/>
          </p:cNvSpPr>
          <p:nvPr>
            <p:ph type="title"/>
          </p:nvPr>
        </p:nvSpPr>
        <p:spPr>
          <a:xfrm>
            <a:off x="0" y="-18750"/>
            <a:ext cx="8460432" cy="1143000"/>
          </a:xfrm>
        </p:spPr>
        <p:txBody>
          <a:bodyPr>
            <a:noAutofit/>
          </a:bodyPr>
          <a:lstStyle>
            <a:lvl1pPr>
              <a:defRPr sz="3200"/>
            </a:lvl1pPr>
          </a:lstStyle>
          <a:p>
            <a:r>
              <a:rPr lang="es-ES"/>
              <a:t>Haga clic para modificar el estilo de título del patrón</a:t>
            </a:r>
          </a:p>
        </p:txBody>
      </p:sp>
      <p:sp>
        <p:nvSpPr>
          <p:cNvPr id="3" name="2 Marcador de contenido"/>
          <p:cNvSpPr>
            <a:spLocks noGrp="1"/>
          </p:cNvSpPr>
          <p:nvPr>
            <p:ph idx="1"/>
          </p:nvPr>
        </p:nvSpPr>
        <p:spPr>
          <a:xfrm>
            <a:off x="0" y="1361726"/>
            <a:ext cx="9125664" cy="4887089"/>
          </a:xfrm>
        </p:spPr>
        <p:txBody>
          <a:bodyPr>
            <a:normAutofit/>
          </a:bodyPr>
          <a:lstStyle>
            <a:lvl1pPr>
              <a:defRPr sz="2800"/>
            </a:lvl1pPr>
            <a:lvl2pPr>
              <a:defRPr sz="2400"/>
            </a:lvl2pPr>
            <a:lvl3pPr>
              <a:defRPr sz="2000"/>
            </a:lvl3pPr>
            <a:lvl4pPr>
              <a:defRPr sz="1800"/>
            </a:lvl4pPr>
            <a:lvl5pPr>
              <a:defRPr sz="1800"/>
            </a:lvl5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3 Marcador de fecha"/>
          <p:cNvSpPr>
            <a:spLocks noGrp="1"/>
          </p:cNvSpPr>
          <p:nvPr>
            <p:ph type="dt" sz="half" idx="10"/>
          </p:nvPr>
        </p:nvSpPr>
        <p:spPr/>
        <p:txBody>
          <a:bodyPr/>
          <a:lstStyle/>
          <a:p>
            <a:fld id="{BB683FE4-A321-4D1C-A617-C18348B0FAEE}" type="datetime1">
              <a:rPr lang="es-ES" smtClean="0"/>
              <a:t>27/04/2026</a:t>
            </a:fld>
            <a:endParaRPr lang="es-ES"/>
          </a:p>
        </p:txBody>
      </p:sp>
      <p:sp>
        <p:nvSpPr>
          <p:cNvPr id="5" name="4 Marcador de pie de página"/>
          <p:cNvSpPr>
            <a:spLocks noGrp="1"/>
          </p:cNvSpPr>
          <p:nvPr>
            <p:ph type="ftr" sz="quarter" idx="11"/>
          </p:nvPr>
        </p:nvSpPr>
        <p:spPr/>
        <p:txBody>
          <a:bodyPr/>
          <a:lstStyle/>
          <a:p>
            <a:endParaRPr lang="es-ES"/>
          </a:p>
        </p:txBody>
      </p:sp>
      <p:sp>
        <p:nvSpPr>
          <p:cNvPr id="6" name="5 Marcador de número de diapositiva"/>
          <p:cNvSpPr>
            <a:spLocks noGrp="1"/>
          </p:cNvSpPr>
          <p:nvPr>
            <p:ph type="sldNum" sz="quarter" idx="12"/>
          </p:nvPr>
        </p:nvSpPr>
        <p:spPr>
          <a:xfrm>
            <a:off x="6992064" y="6486291"/>
            <a:ext cx="2133600" cy="365125"/>
          </a:xfrm>
        </p:spPr>
        <p:txBody>
          <a:bodyPr/>
          <a:lstStyle/>
          <a:p>
            <a:fld id="{989033DA-4FB3-4863-BE40-35B8BF45D7BC}" type="slidenum">
              <a:rPr lang="es-ES" smtClean="0"/>
              <a:pPr/>
              <a:t>‹Nº›</a:t>
            </a:fld>
            <a:endParaRPr lang="es-ES"/>
          </a:p>
        </p:txBody>
      </p:sp>
    </p:spTree>
    <p:extLst>
      <p:ext uri="{BB962C8B-B14F-4D97-AF65-F5344CB8AC3E}">
        <p14:creationId xmlns:p14="http://schemas.microsoft.com/office/powerpoint/2010/main" val="25776817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Ejercicio">
    <p:bg>
      <p:bgPr>
        <a:pattFill prst="lgGrid">
          <a:fgClr>
            <a:schemeClr val="accent2">
              <a:lumMod val="20000"/>
              <a:lumOff val="80000"/>
            </a:schemeClr>
          </a:fgClr>
          <a:bgClr>
            <a:schemeClr val="bg1"/>
          </a:bgClr>
        </a:pattFill>
        <a:effectLst/>
      </p:bgPr>
    </p:bg>
    <p:spTree>
      <p:nvGrpSpPr>
        <p:cNvPr id="1" name=""/>
        <p:cNvGrpSpPr/>
        <p:nvPr/>
      </p:nvGrpSpPr>
      <p:grpSpPr>
        <a:xfrm>
          <a:off x="0" y="0"/>
          <a:ext cx="0" cy="0"/>
          <a:chOff x="0" y="0"/>
          <a:chExt cx="0" cy="0"/>
        </a:xfrm>
      </p:grpSpPr>
      <p:sp>
        <p:nvSpPr>
          <p:cNvPr id="2" name="1 Título"/>
          <p:cNvSpPr>
            <a:spLocks noGrp="1"/>
          </p:cNvSpPr>
          <p:nvPr>
            <p:ph type="title"/>
          </p:nvPr>
        </p:nvSpPr>
        <p:spPr>
          <a:xfrm>
            <a:off x="611560" y="274638"/>
            <a:ext cx="7344816" cy="1143000"/>
          </a:xfrm>
        </p:spPr>
        <p:txBody>
          <a:bodyPr>
            <a:noAutofit/>
          </a:bodyPr>
          <a:lstStyle>
            <a:lvl1pPr>
              <a:defRPr sz="4000">
                <a:solidFill>
                  <a:srgbClr val="7030A0"/>
                </a:solidFill>
              </a:defRPr>
            </a:lvl1pPr>
          </a:lstStyle>
          <a:p>
            <a:r>
              <a:rPr lang="es-ES"/>
              <a:t>Haga clic para modificar el estilo de título del patrón</a:t>
            </a:r>
          </a:p>
        </p:txBody>
      </p:sp>
      <p:sp>
        <p:nvSpPr>
          <p:cNvPr id="3" name="2 Marcador de contenido"/>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3 Marcador de fecha"/>
          <p:cNvSpPr>
            <a:spLocks noGrp="1"/>
          </p:cNvSpPr>
          <p:nvPr>
            <p:ph type="dt" sz="half" idx="10"/>
          </p:nvPr>
        </p:nvSpPr>
        <p:spPr/>
        <p:txBody>
          <a:bodyPr/>
          <a:lstStyle/>
          <a:p>
            <a:fld id="{BB683FE4-A321-4D1C-A617-C18348B0FAEE}" type="datetime1">
              <a:rPr lang="es-ES" smtClean="0"/>
              <a:t>27/04/2026</a:t>
            </a:fld>
            <a:endParaRPr lang="es-ES"/>
          </a:p>
        </p:txBody>
      </p:sp>
      <p:sp>
        <p:nvSpPr>
          <p:cNvPr id="5" name="4 Marcador de pie de página"/>
          <p:cNvSpPr>
            <a:spLocks noGrp="1"/>
          </p:cNvSpPr>
          <p:nvPr>
            <p:ph type="ftr" sz="quarter" idx="11"/>
          </p:nvPr>
        </p:nvSpPr>
        <p:spPr/>
        <p:txBody>
          <a:bodyPr/>
          <a:lstStyle/>
          <a:p>
            <a:endParaRPr lang="es-ES"/>
          </a:p>
        </p:txBody>
      </p:sp>
      <p:sp>
        <p:nvSpPr>
          <p:cNvPr id="6" name="5 Marcador de número de diapositiva"/>
          <p:cNvSpPr>
            <a:spLocks noGrp="1"/>
          </p:cNvSpPr>
          <p:nvPr>
            <p:ph type="sldNum" sz="quarter" idx="12"/>
          </p:nvPr>
        </p:nvSpPr>
        <p:spPr>
          <a:xfrm>
            <a:off x="6992064" y="6486291"/>
            <a:ext cx="2133600" cy="365125"/>
          </a:xfrm>
        </p:spPr>
        <p:txBody>
          <a:bodyPr/>
          <a:lstStyle/>
          <a:p>
            <a:fld id="{989033DA-4FB3-4863-BE40-35B8BF45D7BC}" type="slidenum">
              <a:rPr lang="es-ES" smtClean="0"/>
              <a:pPr/>
              <a:t>‹Nº›</a:t>
            </a:fld>
            <a:endParaRPr lang="es-ES"/>
          </a:p>
        </p:txBody>
      </p:sp>
    </p:spTree>
    <p:extLst>
      <p:ext uri="{BB962C8B-B14F-4D97-AF65-F5344CB8AC3E}">
        <p14:creationId xmlns:p14="http://schemas.microsoft.com/office/powerpoint/2010/main" val="2108873750"/>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paración">
    <p:bg>
      <p:bgRef idx="1003">
        <a:schemeClr val="bg1"/>
      </p:bgRef>
    </p:bg>
    <p:spTree>
      <p:nvGrpSpPr>
        <p:cNvPr id="1" name=""/>
        <p:cNvGrpSpPr/>
        <p:nvPr/>
      </p:nvGrpSpPr>
      <p:grpSpPr>
        <a:xfrm>
          <a:off x="0" y="0"/>
          <a:ext cx="0" cy="0"/>
          <a:chOff x="0" y="0"/>
          <a:chExt cx="0" cy="0"/>
        </a:xfrm>
      </p:grpSpPr>
      <p:sp>
        <p:nvSpPr>
          <p:cNvPr id="2" name="1 Título"/>
          <p:cNvSpPr>
            <a:spLocks noGrp="1"/>
          </p:cNvSpPr>
          <p:nvPr>
            <p:ph type="title"/>
          </p:nvPr>
        </p:nvSpPr>
        <p:spPr>
          <a:xfrm>
            <a:off x="827584" y="2996952"/>
            <a:ext cx="7344816" cy="1143000"/>
          </a:xfrm>
        </p:spPr>
        <p:txBody>
          <a:bodyPr>
            <a:noAutofit/>
          </a:bodyPr>
          <a:lstStyle>
            <a:lvl1pPr>
              <a:defRPr sz="4000"/>
            </a:lvl1pPr>
          </a:lstStyle>
          <a:p>
            <a:r>
              <a:rPr lang="es-ES"/>
              <a:t>Haga clic para modificar el estilo de título del patrón</a:t>
            </a:r>
          </a:p>
        </p:txBody>
      </p:sp>
    </p:spTree>
    <p:extLst>
      <p:ext uri="{BB962C8B-B14F-4D97-AF65-F5344CB8AC3E}">
        <p14:creationId xmlns:p14="http://schemas.microsoft.com/office/powerpoint/2010/main" val="1464379790"/>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1 Marcador de título"/>
          <p:cNvSpPr>
            <a:spLocks noGrp="1"/>
          </p:cNvSpPr>
          <p:nvPr>
            <p:ph type="title"/>
          </p:nvPr>
        </p:nvSpPr>
        <p:spPr>
          <a:xfrm>
            <a:off x="457201" y="254118"/>
            <a:ext cx="7571184" cy="1143000"/>
          </a:xfrm>
          <a:prstGeom prst="rect">
            <a:avLst/>
          </a:prstGeom>
        </p:spPr>
        <p:txBody>
          <a:bodyPr vert="horz" lIns="91440" tIns="45720" rIns="91440" bIns="45720" rtlCol="0" anchor="ctr">
            <a:noAutofit/>
          </a:bodyPr>
          <a:lstStyle/>
          <a:p>
            <a:r>
              <a:rPr lang="es-ES"/>
              <a:t>Haga clic para modificar el estilo de título del patrón</a:t>
            </a:r>
          </a:p>
        </p:txBody>
      </p:sp>
      <p:sp>
        <p:nvSpPr>
          <p:cNvPr id="3" name="2 Marcador de texto"/>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3 Marcador de fecha"/>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B28D5E6-CE31-48CC-8170-27D9DC6D443E}" type="datetime1">
              <a:rPr lang="es-ES" smtClean="0"/>
              <a:t>27/04/2026</a:t>
            </a:fld>
            <a:endParaRPr lang="es-ES"/>
          </a:p>
        </p:txBody>
      </p:sp>
      <p:sp>
        <p:nvSpPr>
          <p:cNvPr id="5" name="4 Marcador de pie de página"/>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ES"/>
          </a:p>
        </p:txBody>
      </p:sp>
      <p:sp>
        <p:nvSpPr>
          <p:cNvPr id="6" name="5 Marcador de número de diapositiva"/>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89033DA-4FB3-4863-BE40-35B8BF45D7BC}" type="slidenum">
              <a:rPr lang="es-ES" smtClean="0"/>
              <a:pPr/>
              <a:t>‹Nº›</a:t>
            </a:fld>
            <a:endParaRPr lang="es-ES"/>
          </a:p>
        </p:txBody>
      </p:sp>
      <p:pic>
        <p:nvPicPr>
          <p:cNvPr id="11" name="Imagen 10"/>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8362070" y="19086"/>
            <a:ext cx="781930" cy="601602"/>
          </a:xfrm>
          <a:prstGeom prst="rect">
            <a:avLst/>
          </a:prstGeom>
        </p:spPr>
      </p:pic>
      <p:pic>
        <p:nvPicPr>
          <p:cNvPr id="8" name="Imagen 7">
            <a:extLst>
              <a:ext uri="{FF2B5EF4-FFF2-40B4-BE49-F238E27FC236}">
                <a16:creationId xmlns:a16="http://schemas.microsoft.com/office/drawing/2014/main" id="{FFD2B4A2-EFA7-410C-9E31-BE9189703F76}"/>
              </a:ext>
            </a:extLst>
          </p:cNvPr>
          <p:cNvPicPr>
            <a:picLocks noChangeAspect="1"/>
          </p:cNvPicPr>
          <p:nvPr userDrawn="1"/>
        </p:nvPicPr>
        <p:blipFill>
          <a:blip r:embed="rId8"/>
          <a:stretch>
            <a:fillRect/>
          </a:stretch>
        </p:blipFill>
        <p:spPr>
          <a:xfrm>
            <a:off x="8501007" y="594026"/>
            <a:ext cx="504056" cy="354414"/>
          </a:xfrm>
          <a:prstGeom prst="rect">
            <a:avLst/>
          </a:prstGeom>
        </p:spPr>
      </p:pic>
    </p:spTree>
    <p:extLst>
      <p:ext uri="{BB962C8B-B14F-4D97-AF65-F5344CB8AC3E}">
        <p14:creationId xmlns:p14="http://schemas.microsoft.com/office/powerpoint/2010/main" val="149726052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3" r:id="rId3"/>
    <p:sldLayoutId id="2147483651" r:id="rId4"/>
    <p:sldLayoutId id="2147483652" r:id="rId5"/>
  </p:sldLayoutIdLst>
  <p:hf hdr="0" ftr="0" dt="0"/>
  <p:txStyles>
    <p:titleStyle>
      <a:lvl1pPr algn="ctr" defTabSz="914400" rtl="0" eaLnBrk="1" latinLnBrk="0" hangingPunct="1">
        <a:spcBef>
          <a:spcPct val="0"/>
        </a:spcBef>
        <a:buNone/>
        <a:defRPr sz="3600" b="0" kern="1200">
          <a:solidFill>
            <a:schemeClr val="bg2">
              <a:lumMod val="50000"/>
            </a:schemeClr>
          </a:solidFill>
          <a:latin typeface="Garamond" panose="02020404030301010803" pitchFamily="18" charset="0"/>
          <a:ea typeface="+mj-ea"/>
          <a:cs typeface="Times New Roman" panose="02020603050405020304" pitchFamily="18" charset="0"/>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jpeg"/></Relationships>
</file>

<file path=ppt/slides/_rels/slide5.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jpe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ctrTitle"/>
          </p:nvPr>
        </p:nvSpPr>
        <p:spPr/>
        <p:txBody>
          <a:bodyPr>
            <a:normAutofit/>
          </a:bodyPr>
          <a:lstStyle/>
          <a:p>
            <a:r>
              <a:rPr lang="en-US" sz="4000"/>
              <a:t>Introduction to policies, policy languages and ODRL</a:t>
            </a:r>
            <a:endParaRPr lang="es-ES" sz="4000"/>
          </a:p>
        </p:txBody>
      </p:sp>
      <p:sp>
        <p:nvSpPr>
          <p:cNvPr id="3" name="2 Subtítulo"/>
          <p:cNvSpPr>
            <a:spLocks noGrp="1"/>
          </p:cNvSpPr>
          <p:nvPr>
            <p:ph type="subTitle" idx="1"/>
          </p:nvPr>
        </p:nvSpPr>
        <p:spPr/>
        <p:txBody>
          <a:bodyPr>
            <a:normAutofit/>
          </a:bodyPr>
          <a:lstStyle/>
          <a:p>
            <a:r>
              <a:rPr lang="es-ES_tradnl" sz="2400"/>
              <a:t>Víctor Rodríguez Doncel</a:t>
            </a:r>
          </a:p>
          <a:p>
            <a:r>
              <a:rPr lang="es-ES_tradnl" sz="1800"/>
              <a:t>Ontology Engineering Group. Universidad Politécnica de Madrid</a:t>
            </a:r>
          </a:p>
        </p:txBody>
      </p:sp>
      <p:sp>
        <p:nvSpPr>
          <p:cNvPr id="4" name="Marcador de texto 3">
            <a:extLst>
              <a:ext uri="{FF2B5EF4-FFF2-40B4-BE49-F238E27FC236}">
                <a16:creationId xmlns:a16="http://schemas.microsoft.com/office/drawing/2014/main" id="{9CF6218A-FF7A-49A2-B5BD-398F55DEC6BB}"/>
              </a:ext>
            </a:extLst>
          </p:cNvPr>
          <p:cNvSpPr>
            <a:spLocks noGrp="1"/>
          </p:cNvSpPr>
          <p:nvPr>
            <p:ph type="body" sz="quarter" idx="11"/>
          </p:nvPr>
        </p:nvSpPr>
        <p:spPr>
          <a:xfrm>
            <a:off x="354360" y="5216924"/>
            <a:ext cx="8435280" cy="863724"/>
          </a:xfrm>
        </p:spPr>
        <p:txBody>
          <a:bodyPr/>
          <a:lstStyle/>
          <a:p>
            <a:r>
              <a:rPr lang="en-US" sz="2000"/>
              <a:t>Tutorial: Policy Evaluation and Enforcement on the Web with ODRL</a:t>
            </a:r>
          </a:p>
          <a:p>
            <a:r>
              <a:rPr lang="es-ES" sz="2000"/>
              <a:t>Co-located with 23rd European Semantic Web Conference (ESWC)</a:t>
            </a:r>
          </a:p>
          <a:p>
            <a:r>
              <a:rPr lang="es-ES" sz="2000"/>
              <a:t>May 10 2026 Dubrovnik , Croatia</a:t>
            </a:r>
          </a:p>
        </p:txBody>
      </p:sp>
      <p:sp>
        <p:nvSpPr>
          <p:cNvPr id="5" name="CuadroTexto 4">
            <a:extLst>
              <a:ext uri="{FF2B5EF4-FFF2-40B4-BE49-F238E27FC236}">
                <a16:creationId xmlns:a16="http://schemas.microsoft.com/office/drawing/2014/main" id="{ABDB07E4-A976-4DDC-8C23-607F94B591A7}"/>
              </a:ext>
            </a:extLst>
          </p:cNvPr>
          <p:cNvSpPr txBox="1"/>
          <p:nvPr/>
        </p:nvSpPr>
        <p:spPr>
          <a:xfrm>
            <a:off x="0" y="6560044"/>
            <a:ext cx="4862998" cy="307777"/>
          </a:xfrm>
          <a:prstGeom prst="rect">
            <a:avLst/>
          </a:prstGeom>
          <a:noFill/>
        </p:spPr>
        <p:txBody>
          <a:bodyPr wrap="none" rtlCol="0">
            <a:spAutoFit/>
          </a:bodyPr>
          <a:lstStyle/>
          <a:p>
            <a:r>
              <a:rPr lang="es-ES" sz="1400">
                <a:solidFill>
                  <a:schemeClr val="tx1">
                    <a:lumMod val="50000"/>
                    <a:lumOff val="50000"/>
                  </a:schemeClr>
                </a:solidFill>
              </a:rPr>
              <a:t>Please do not distribute these slides without Victor's permission</a:t>
            </a:r>
          </a:p>
        </p:txBody>
      </p:sp>
    </p:spTree>
    <p:extLst>
      <p:ext uri="{BB962C8B-B14F-4D97-AF65-F5344CB8AC3E}">
        <p14:creationId xmlns:p14="http://schemas.microsoft.com/office/powerpoint/2010/main" val="25311735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ítulo 4">
            <a:extLst>
              <a:ext uri="{FF2B5EF4-FFF2-40B4-BE49-F238E27FC236}">
                <a16:creationId xmlns:a16="http://schemas.microsoft.com/office/drawing/2014/main" id="{0891AE5B-0FE1-4581-916B-2AE2849F3A35}"/>
              </a:ext>
            </a:extLst>
          </p:cNvPr>
          <p:cNvSpPr>
            <a:spLocks noGrp="1"/>
          </p:cNvSpPr>
          <p:nvPr>
            <p:ph type="title"/>
          </p:nvPr>
        </p:nvSpPr>
        <p:spPr/>
        <p:txBody>
          <a:bodyPr/>
          <a:lstStyle/>
          <a:p>
            <a:r>
              <a:rPr lang="es-ES"/>
              <a:t>What is a policy</a:t>
            </a:r>
          </a:p>
        </p:txBody>
      </p:sp>
      <p:sp>
        <p:nvSpPr>
          <p:cNvPr id="4" name="Marcador de número de diapositiva 3">
            <a:extLst>
              <a:ext uri="{FF2B5EF4-FFF2-40B4-BE49-F238E27FC236}">
                <a16:creationId xmlns:a16="http://schemas.microsoft.com/office/drawing/2014/main" id="{9EF2577E-7668-4AFE-9F69-41D5EEE1F8C7}"/>
              </a:ext>
            </a:extLst>
          </p:cNvPr>
          <p:cNvSpPr>
            <a:spLocks noGrp="1"/>
          </p:cNvSpPr>
          <p:nvPr>
            <p:ph type="sldNum" sz="quarter" idx="4294967295"/>
          </p:nvPr>
        </p:nvSpPr>
        <p:spPr>
          <a:xfrm>
            <a:off x="7010400" y="6486525"/>
            <a:ext cx="2133600" cy="365125"/>
          </a:xfrm>
        </p:spPr>
        <p:txBody>
          <a:bodyPr/>
          <a:lstStyle/>
          <a:p>
            <a:fld id="{989033DA-4FB3-4863-BE40-35B8BF45D7BC}" type="slidenum">
              <a:rPr lang="es-ES" smtClean="0"/>
              <a:pPr/>
              <a:t>2</a:t>
            </a:fld>
            <a:endParaRPr lang="es-ES"/>
          </a:p>
        </p:txBody>
      </p:sp>
    </p:spTree>
    <p:extLst>
      <p:ext uri="{BB962C8B-B14F-4D97-AF65-F5344CB8AC3E}">
        <p14:creationId xmlns:p14="http://schemas.microsoft.com/office/powerpoint/2010/main" val="33353223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B20497B-C8B3-4B09-943A-C4DB85EB1AD5}"/>
              </a:ext>
            </a:extLst>
          </p:cNvPr>
          <p:cNvSpPr>
            <a:spLocks noGrp="1"/>
          </p:cNvSpPr>
          <p:nvPr>
            <p:ph type="title"/>
          </p:nvPr>
        </p:nvSpPr>
        <p:spPr/>
        <p:txBody>
          <a:bodyPr/>
          <a:lstStyle/>
          <a:p>
            <a:r>
              <a:rPr lang="es-ES"/>
              <a:t>I want</a:t>
            </a:r>
          </a:p>
        </p:txBody>
      </p:sp>
      <p:sp>
        <p:nvSpPr>
          <p:cNvPr id="4" name="Marcador de número de diapositiva 3">
            <a:extLst>
              <a:ext uri="{FF2B5EF4-FFF2-40B4-BE49-F238E27FC236}">
                <a16:creationId xmlns:a16="http://schemas.microsoft.com/office/drawing/2014/main" id="{CDF4CBEE-A09B-4110-98D0-312C6887DFC8}"/>
              </a:ext>
            </a:extLst>
          </p:cNvPr>
          <p:cNvSpPr>
            <a:spLocks noGrp="1"/>
          </p:cNvSpPr>
          <p:nvPr>
            <p:ph type="sldNum" sz="quarter" idx="12"/>
          </p:nvPr>
        </p:nvSpPr>
        <p:spPr/>
        <p:txBody>
          <a:bodyPr/>
          <a:lstStyle/>
          <a:p>
            <a:fld id="{989033DA-4FB3-4863-BE40-35B8BF45D7BC}" type="slidenum">
              <a:rPr lang="es-ES" smtClean="0"/>
              <a:pPr/>
              <a:t>3</a:t>
            </a:fld>
            <a:endParaRPr lang="es-ES"/>
          </a:p>
        </p:txBody>
      </p:sp>
      <p:pic>
        <p:nvPicPr>
          <p:cNvPr id="1026" name="Picture 2" descr="Wanderer Above the Sea of Fog 4K wallpaper | Caspar david friedrich ...">
            <a:extLst>
              <a:ext uri="{FF2B5EF4-FFF2-40B4-BE49-F238E27FC236}">
                <a16:creationId xmlns:a16="http://schemas.microsoft.com/office/drawing/2014/main" id="{96531303-75F5-4BB1-9F73-00F1A665C1E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568" y="1621801"/>
            <a:ext cx="7452320" cy="4191930"/>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a:extLst>
              <a:ext uri="{FF2B5EF4-FFF2-40B4-BE49-F238E27FC236}">
                <a16:creationId xmlns:a16="http://schemas.microsoft.com/office/drawing/2014/main" id="{0AEB8722-5790-46EE-8D40-EBD2805057A0}"/>
              </a:ext>
            </a:extLst>
          </p:cNvPr>
          <p:cNvSpPr txBox="1"/>
          <p:nvPr/>
        </p:nvSpPr>
        <p:spPr>
          <a:xfrm>
            <a:off x="0" y="6560044"/>
            <a:ext cx="4977901" cy="307777"/>
          </a:xfrm>
          <a:prstGeom prst="rect">
            <a:avLst/>
          </a:prstGeom>
          <a:noFill/>
        </p:spPr>
        <p:txBody>
          <a:bodyPr wrap="none" rtlCol="0">
            <a:spAutoFit/>
          </a:bodyPr>
          <a:lstStyle/>
          <a:p>
            <a:r>
              <a:rPr lang="de-DE" sz="1400">
                <a:solidFill>
                  <a:schemeClr val="tx1">
                    <a:lumMod val="50000"/>
                    <a:lumOff val="50000"/>
                  </a:schemeClr>
                </a:solidFill>
              </a:rPr>
              <a:t>Caspar David Friedrich, Der Wanderer über dem Nebelmeer, 1818</a:t>
            </a:r>
            <a:endParaRPr lang="es-ES" sz="1400">
              <a:solidFill>
                <a:schemeClr val="tx1">
                  <a:lumMod val="50000"/>
                  <a:lumOff val="50000"/>
                </a:schemeClr>
              </a:solidFill>
            </a:endParaRPr>
          </a:p>
        </p:txBody>
      </p:sp>
    </p:spTree>
    <p:extLst>
      <p:ext uri="{BB962C8B-B14F-4D97-AF65-F5344CB8AC3E}">
        <p14:creationId xmlns:p14="http://schemas.microsoft.com/office/powerpoint/2010/main" val="33382887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25A4BA8-7DA7-4F14-8E0A-D17B0334D4B8}"/>
              </a:ext>
            </a:extLst>
          </p:cNvPr>
          <p:cNvSpPr>
            <a:spLocks noGrp="1"/>
          </p:cNvSpPr>
          <p:nvPr>
            <p:ph type="title"/>
          </p:nvPr>
        </p:nvSpPr>
        <p:spPr/>
        <p:txBody>
          <a:bodyPr/>
          <a:lstStyle/>
          <a:p>
            <a:r>
              <a:rPr lang="es-ES"/>
              <a:t>..and I can</a:t>
            </a:r>
          </a:p>
        </p:txBody>
      </p:sp>
      <p:sp>
        <p:nvSpPr>
          <p:cNvPr id="4" name="Marcador de número de diapositiva 3">
            <a:extLst>
              <a:ext uri="{FF2B5EF4-FFF2-40B4-BE49-F238E27FC236}">
                <a16:creationId xmlns:a16="http://schemas.microsoft.com/office/drawing/2014/main" id="{202B571B-6F1C-420D-BD31-5768B9486AB3}"/>
              </a:ext>
            </a:extLst>
          </p:cNvPr>
          <p:cNvSpPr>
            <a:spLocks noGrp="1"/>
          </p:cNvSpPr>
          <p:nvPr>
            <p:ph type="sldNum" sz="quarter" idx="12"/>
          </p:nvPr>
        </p:nvSpPr>
        <p:spPr/>
        <p:txBody>
          <a:bodyPr/>
          <a:lstStyle/>
          <a:p>
            <a:fld id="{989033DA-4FB3-4863-BE40-35B8BF45D7BC}" type="slidenum">
              <a:rPr lang="es-ES" smtClean="0"/>
              <a:pPr/>
              <a:t>4</a:t>
            </a:fld>
            <a:endParaRPr lang="es-ES"/>
          </a:p>
        </p:txBody>
      </p:sp>
      <p:pic>
        <p:nvPicPr>
          <p:cNvPr id="5" name="Imagen 4">
            <a:extLst>
              <a:ext uri="{FF2B5EF4-FFF2-40B4-BE49-F238E27FC236}">
                <a16:creationId xmlns:a16="http://schemas.microsoft.com/office/drawing/2014/main" id="{33B03C6F-4BE0-4D8B-924E-A62BAB9C6F7E}"/>
              </a:ext>
            </a:extLst>
          </p:cNvPr>
          <p:cNvPicPr>
            <a:picLocks noChangeAspect="1"/>
          </p:cNvPicPr>
          <p:nvPr/>
        </p:nvPicPr>
        <p:blipFill>
          <a:blip r:embed="rId2"/>
          <a:stretch>
            <a:fillRect/>
          </a:stretch>
        </p:blipFill>
        <p:spPr>
          <a:xfrm>
            <a:off x="4027486" y="4963091"/>
            <a:ext cx="753083" cy="1620271"/>
          </a:xfrm>
          <a:prstGeom prst="rect">
            <a:avLst/>
          </a:prstGeom>
        </p:spPr>
      </p:pic>
      <p:pic>
        <p:nvPicPr>
          <p:cNvPr id="2050" name="Picture 2" descr="El día que España vació la cámara acorazada del Banco de España para  siempre: ni rastro del dinero">
            <a:extLst>
              <a:ext uri="{FF2B5EF4-FFF2-40B4-BE49-F238E27FC236}">
                <a16:creationId xmlns:a16="http://schemas.microsoft.com/office/drawing/2014/main" id="{147F6114-0420-4EA7-A038-8E7A87B23E7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2000" y="2377933"/>
            <a:ext cx="3282656" cy="2461992"/>
          </a:xfrm>
          <a:prstGeom prst="rect">
            <a:avLst/>
          </a:prstGeom>
          <a:noFill/>
          <a:extLst>
            <a:ext uri="{909E8E84-426E-40DD-AFC4-6F175D3DCCD1}">
              <a14:hiddenFill xmlns:a14="http://schemas.microsoft.com/office/drawing/2010/main">
                <a:solidFill>
                  <a:srgbClr val="FFFFFF"/>
                </a:solidFill>
              </a14:hiddenFill>
            </a:ext>
          </a:extLst>
        </p:spPr>
      </p:pic>
      <p:sp>
        <p:nvSpPr>
          <p:cNvPr id="8" name="Marcador de contenido 7">
            <a:extLst>
              <a:ext uri="{FF2B5EF4-FFF2-40B4-BE49-F238E27FC236}">
                <a16:creationId xmlns:a16="http://schemas.microsoft.com/office/drawing/2014/main" id="{B69831D1-097E-44AB-B7CC-EC6FE5221441}"/>
              </a:ext>
            </a:extLst>
          </p:cNvPr>
          <p:cNvSpPr>
            <a:spLocks noGrp="1"/>
          </p:cNvSpPr>
          <p:nvPr>
            <p:ph idx="1"/>
          </p:nvPr>
        </p:nvSpPr>
        <p:spPr>
          <a:xfrm>
            <a:off x="744609" y="1297347"/>
            <a:ext cx="3467351" cy="4525963"/>
          </a:xfrm>
        </p:spPr>
        <p:txBody>
          <a:bodyPr/>
          <a:lstStyle/>
          <a:p>
            <a:pPr marL="0" indent="0">
              <a:buNone/>
            </a:pPr>
            <a:r>
              <a:rPr lang="es-ES"/>
              <a:t>...either I have the technical means</a:t>
            </a:r>
          </a:p>
        </p:txBody>
      </p:sp>
      <p:pic>
        <p:nvPicPr>
          <p:cNvPr id="2052" name="Picture 4" descr="474,005 Court Laws Royalty-Free Images, Stock Photos &amp; Pictures |  Shutterstock">
            <a:extLst>
              <a:ext uri="{FF2B5EF4-FFF2-40B4-BE49-F238E27FC236}">
                <a16:creationId xmlns:a16="http://schemas.microsoft.com/office/drawing/2014/main" id="{791A8880-3A19-4A44-A4E0-5F73CA49F5B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96094" y="2377933"/>
            <a:ext cx="3692987" cy="2461991"/>
          </a:xfrm>
          <a:prstGeom prst="rect">
            <a:avLst/>
          </a:prstGeom>
          <a:noFill/>
          <a:extLst>
            <a:ext uri="{909E8E84-426E-40DD-AFC4-6F175D3DCCD1}">
              <a14:hiddenFill xmlns:a14="http://schemas.microsoft.com/office/drawing/2010/main">
                <a:solidFill>
                  <a:srgbClr val="FFFFFF"/>
                </a:solidFill>
              </a14:hiddenFill>
            </a:ext>
          </a:extLst>
        </p:spPr>
      </p:pic>
      <p:sp>
        <p:nvSpPr>
          <p:cNvPr id="11" name="Marcador de contenido 7">
            <a:extLst>
              <a:ext uri="{FF2B5EF4-FFF2-40B4-BE49-F238E27FC236}">
                <a16:creationId xmlns:a16="http://schemas.microsoft.com/office/drawing/2014/main" id="{947A2262-FB23-4DB2-A520-8F28E5B42F90}"/>
              </a:ext>
            </a:extLst>
          </p:cNvPr>
          <p:cNvSpPr txBox="1">
            <a:spLocks/>
          </p:cNvSpPr>
          <p:nvPr/>
        </p:nvSpPr>
        <p:spPr>
          <a:xfrm>
            <a:off x="4635014" y="1304826"/>
            <a:ext cx="3897426" cy="4525963"/>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s-ES"/>
              <a:t>...or I have a legal protection </a:t>
            </a:r>
          </a:p>
        </p:txBody>
      </p:sp>
    </p:spTree>
    <p:extLst>
      <p:ext uri="{BB962C8B-B14F-4D97-AF65-F5344CB8AC3E}">
        <p14:creationId xmlns:p14="http://schemas.microsoft.com/office/powerpoint/2010/main" val="18902849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9746832-FFA8-45CD-B245-745D4B16A241}"/>
              </a:ext>
            </a:extLst>
          </p:cNvPr>
          <p:cNvSpPr>
            <a:spLocks noGrp="1"/>
          </p:cNvSpPr>
          <p:nvPr>
            <p:ph type="title"/>
          </p:nvPr>
        </p:nvSpPr>
        <p:spPr/>
        <p:txBody>
          <a:bodyPr/>
          <a:lstStyle/>
          <a:p>
            <a:r>
              <a:rPr lang="es-ES"/>
              <a:t>The expression is a policy</a:t>
            </a:r>
          </a:p>
        </p:txBody>
      </p:sp>
      <p:sp>
        <p:nvSpPr>
          <p:cNvPr id="4" name="Marcador de número de diapositiva 3">
            <a:extLst>
              <a:ext uri="{FF2B5EF4-FFF2-40B4-BE49-F238E27FC236}">
                <a16:creationId xmlns:a16="http://schemas.microsoft.com/office/drawing/2014/main" id="{F8CCEC5F-A35F-4B36-BF0D-3405CAE1D22C}"/>
              </a:ext>
            </a:extLst>
          </p:cNvPr>
          <p:cNvSpPr>
            <a:spLocks noGrp="1"/>
          </p:cNvSpPr>
          <p:nvPr>
            <p:ph type="sldNum" sz="quarter" idx="12"/>
          </p:nvPr>
        </p:nvSpPr>
        <p:spPr/>
        <p:txBody>
          <a:bodyPr/>
          <a:lstStyle/>
          <a:p>
            <a:fld id="{989033DA-4FB3-4863-BE40-35B8BF45D7BC}" type="slidenum">
              <a:rPr lang="es-ES" smtClean="0"/>
              <a:pPr/>
              <a:t>5</a:t>
            </a:fld>
            <a:endParaRPr lang="es-ES"/>
          </a:p>
        </p:txBody>
      </p:sp>
      <p:pic>
        <p:nvPicPr>
          <p:cNvPr id="5" name="Imagen 4">
            <a:extLst>
              <a:ext uri="{FF2B5EF4-FFF2-40B4-BE49-F238E27FC236}">
                <a16:creationId xmlns:a16="http://schemas.microsoft.com/office/drawing/2014/main" id="{EFB8AB35-A7BC-4D3E-893B-A745C7866E4A}"/>
              </a:ext>
            </a:extLst>
          </p:cNvPr>
          <p:cNvPicPr>
            <a:picLocks noChangeAspect="1"/>
          </p:cNvPicPr>
          <p:nvPr/>
        </p:nvPicPr>
        <p:blipFill>
          <a:blip r:embed="rId2"/>
          <a:stretch>
            <a:fillRect/>
          </a:stretch>
        </p:blipFill>
        <p:spPr>
          <a:xfrm>
            <a:off x="606972" y="4429235"/>
            <a:ext cx="753083" cy="1620271"/>
          </a:xfrm>
          <a:prstGeom prst="rect">
            <a:avLst/>
          </a:prstGeom>
        </p:spPr>
      </p:pic>
      <p:sp>
        <p:nvSpPr>
          <p:cNvPr id="6" name="Bocadillo: rectángulo con esquinas redondeadas 5">
            <a:extLst>
              <a:ext uri="{FF2B5EF4-FFF2-40B4-BE49-F238E27FC236}">
                <a16:creationId xmlns:a16="http://schemas.microsoft.com/office/drawing/2014/main" id="{AD6F3D4D-B7D3-445B-B26E-EB251672D8C5}"/>
              </a:ext>
            </a:extLst>
          </p:cNvPr>
          <p:cNvSpPr/>
          <p:nvPr/>
        </p:nvSpPr>
        <p:spPr>
          <a:xfrm>
            <a:off x="251520" y="2852936"/>
            <a:ext cx="1800200" cy="871973"/>
          </a:xfrm>
          <a:prstGeom prst="wedgeRoundRectCallout">
            <a:avLst>
              <a:gd name="adj1" fmla="val -14101"/>
              <a:gd name="adj2" fmla="val 124409"/>
              <a:gd name="adj3" fmla="val 16667"/>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3600">
                <a:solidFill>
                  <a:schemeClr val="tx1">
                    <a:lumMod val="85000"/>
                    <a:lumOff val="15000"/>
                  </a:schemeClr>
                </a:solidFill>
              </a:rPr>
              <a:t>I want X</a:t>
            </a:r>
          </a:p>
        </p:txBody>
      </p:sp>
      <p:pic>
        <p:nvPicPr>
          <p:cNvPr id="8" name="Picture 2" descr="El día que España vació la cámara acorazada del Banco de España para  siempre: ni rastro del dinero">
            <a:extLst>
              <a:ext uri="{FF2B5EF4-FFF2-40B4-BE49-F238E27FC236}">
                <a16:creationId xmlns:a16="http://schemas.microsoft.com/office/drawing/2014/main" id="{643BAC7C-8087-4C4B-854D-72C298C6568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72303" y="1443873"/>
            <a:ext cx="2457032" cy="1842774"/>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descr="474,005 Court Laws Royalty-Free Images, Stock Photos &amp; Pictures |  Shutterstock">
            <a:extLst>
              <a:ext uri="{FF2B5EF4-FFF2-40B4-BE49-F238E27FC236}">
                <a16:creationId xmlns:a16="http://schemas.microsoft.com/office/drawing/2014/main" id="{DAD217F8-8F84-4752-9C8C-DD144781C434}"/>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098928" y="5048582"/>
            <a:ext cx="2430407" cy="1620271"/>
          </a:xfrm>
          <a:prstGeom prst="rect">
            <a:avLst/>
          </a:prstGeom>
          <a:noFill/>
          <a:extLst>
            <a:ext uri="{909E8E84-426E-40DD-AFC4-6F175D3DCCD1}">
              <a14:hiddenFill xmlns:a14="http://schemas.microsoft.com/office/drawing/2010/main">
                <a:solidFill>
                  <a:srgbClr val="FFFFFF"/>
                </a:solidFill>
              </a14:hiddenFill>
            </a:ext>
          </a:extLst>
        </p:spPr>
      </p:pic>
      <p:cxnSp>
        <p:nvCxnSpPr>
          <p:cNvPr id="11" name="Conector recto de flecha 10">
            <a:extLst>
              <a:ext uri="{FF2B5EF4-FFF2-40B4-BE49-F238E27FC236}">
                <a16:creationId xmlns:a16="http://schemas.microsoft.com/office/drawing/2014/main" id="{5799E757-B069-4F12-BBC1-678836E4A023}"/>
              </a:ext>
            </a:extLst>
          </p:cNvPr>
          <p:cNvCxnSpPr>
            <a:cxnSpLocks/>
          </p:cNvCxnSpPr>
          <p:nvPr/>
        </p:nvCxnSpPr>
        <p:spPr>
          <a:xfrm flipV="1">
            <a:off x="2411760" y="2499054"/>
            <a:ext cx="3456384" cy="707764"/>
          </a:xfrm>
          <a:prstGeom prst="straightConnector1">
            <a:avLst/>
          </a:prstGeom>
          <a:ln w="127000">
            <a:solidFill>
              <a:schemeClr val="accent6">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Conector recto de flecha 12">
            <a:extLst>
              <a:ext uri="{FF2B5EF4-FFF2-40B4-BE49-F238E27FC236}">
                <a16:creationId xmlns:a16="http://schemas.microsoft.com/office/drawing/2014/main" id="{B0F1C1AD-134E-47F2-AC31-7E396A4090CF}"/>
              </a:ext>
            </a:extLst>
          </p:cNvPr>
          <p:cNvCxnSpPr>
            <a:cxnSpLocks/>
          </p:cNvCxnSpPr>
          <p:nvPr/>
        </p:nvCxnSpPr>
        <p:spPr>
          <a:xfrm>
            <a:off x="2339752" y="3784977"/>
            <a:ext cx="3456384" cy="1948279"/>
          </a:xfrm>
          <a:prstGeom prst="straightConnector1">
            <a:avLst/>
          </a:prstGeom>
          <a:ln w="127000">
            <a:solidFill>
              <a:schemeClr val="accent6">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6" name="CuadroTexto 15">
            <a:extLst>
              <a:ext uri="{FF2B5EF4-FFF2-40B4-BE49-F238E27FC236}">
                <a16:creationId xmlns:a16="http://schemas.microsoft.com/office/drawing/2014/main" id="{487ED47C-4659-42FD-930B-D61435FC246E}"/>
              </a:ext>
            </a:extLst>
          </p:cNvPr>
          <p:cNvSpPr txBox="1"/>
          <p:nvPr/>
        </p:nvSpPr>
        <p:spPr>
          <a:xfrm>
            <a:off x="983513" y="1443873"/>
            <a:ext cx="5055624" cy="830997"/>
          </a:xfrm>
          <a:prstGeom prst="rect">
            <a:avLst/>
          </a:prstGeom>
          <a:noFill/>
        </p:spPr>
        <p:txBody>
          <a:bodyPr wrap="square" rtlCol="0">
            <a:spAutoFit/>
          </a:bodyPr>
          <a:lstStyle/>
          <a:p>
            <a:r>
              <a:rPr lang="es-ES" sz="2400"/>
              <a:t>This expression may be interpreted by a computer enforcing my policy</a:t>
            </a:r>
          </a:p>
        </p:txBody>
      </p:sp>
      <p:sp>
        <p:nvSpPr>
          <p:cNvPr id="17" name="CuadroTexto 16">
            <a:extLst>
              <a:ext uri="{FF2B5EF4-FFF2-40B4-BE49-F238E27FC236}">
                <a16:creationId xmlns:a16="http://schemas.microsoft.com/office/drawing/2014/main" id="{8E96240D-2045-4300-80A0-00A015A8CB18}"/>
              </a:ext>
            </a:extLst>
          </p:cNvPr>
          <p:cNvSpPr txBox="1"/>
          <p:nvPr/>
        </p:nvSpPr>
        <p:spPr>
          <a:xfrm>
            <a:off x="4001763" y="3813530"/>
            <a:ext cx="3312368" cy="830997"/>
          </a:xfrm>
          <a:prstGeom prst="rect">
            <a:avLst/>
          </a:prstGeom>
          <a:noFill/>
        </p:spPr>
        <p:txBody>
          <a:bodyPr wrap="square" rtlCol="0">
            <a:spAutoFit/>
          </a:bodyPr>
          <a:lstStyle/>
          <a:p>
            <a:r>
              <a:rPr lang="es-ES" sz="2400"/>
              <a:t>This expression triggers legal consequences</a:t>
            </a:r>
          </a:p>
        </p:txBody>
      </p:sp>
      <p:sp>
        <p:nvSpPr>
          <p:cNvPr id="19" name="Globo: línea doblada doble 18">
            <a:extLst>
              <a:ext uri="{FF2B5EF4-FFF2-40B4-BE49-F238E27FC236}">
                <a16:creationId xmlns:a16="http://schemas.microsoft.com/office/drawing/2014/main" id="{10F6A8FA-E98E-4846-9815-0ECDCC73508E}"/>
              </a:ext>
            </a:extLst>
          </p:cNvPr>
          <p:cNvSpPr/>
          <p:nvPr/>
        </p:nvSpPr>
        <p:spPr>
          <a:xfrm>
            <a:off x="1943708" y="4941168"/>
            <a:ext cx="1404156" cy="576064"/>
          </a:xfrm>
          <a:prstGeom prst="borderCallout3">
            <a:avLst>
              <a:gd name="adj1" fmla="val 18750"/>
              <a:gd name="adj2" fmla="val -8333"/>
              <a:gd name="adj3" fmla="val 18750"/>
              <a:gd name="adj4" fmla="val -16667"/>
              <a:gd name="adj5" fmla="val -94957"/>
              <a:gd name="adj6" fmla="val -43093"/>
              <a:gd name="adj7" fmla="val -208274"/>
              <a:gd name="adj8" fmla="val -50595"/>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a:t>This is a policy</a:t>
            </a:r>
          </a:p>
        </p:txBody>
      </p:sp>
    </p:spTree>
    <p:extLst>
      <p:ext uri="{BB962C8B-B14F-4D97-AF65-F5344CB8AC3E}">
        <p14:creationId xmlns:p14="http://schemas.microsoft.com/office/powerpoint/2010/main" val="33222133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EBA8DB-5ADD-458C-A4D3-3E07E34A1C6E}"/>
              </a:ext>
            </a:extLst>
          </p:cNvPr>
          <p:cNvSpPr>
            <a:spLocks noGrp="1"/>
          </p:cNvSpPr>
          <p:nvPr>
            <p:ph type="title"/>
          </p:nvPr>
        </p:nvSpPr>
        <p:spPr/>
        <p:txBody>
          <a:bodyPr/>
          <a:lstStyle/>
          <a:p>
            <a:r>
              <a:rPr lang="es-ES"/>
              <a:t>Policy with legal value</a:t>
            </a:r>
          </a:p>
        </p:txBody>
      </p:sp>
      <p:sp>
        <p:nvSpPr>
          <p:cNvPr id="4" name="Marcador de número de diapositiva 3">
            <a:extLst>
              <a:ext uri="{FF2B5EF4-FFF2-40B4-BE49-F238E27FC236}">
                <a16:creationId xmlns:a16="http://schemas.microsoft.com/office/drawing/2014/main" id="{63A3025B-A8AD-4236-B470-D58F6E02D7D3}"/>
              </a:ext>
            </a:extLst>
          </p:cNvPr>
          <p:cNvSpPr>
            <a:spLocks noGrp="1"/>
          </p:cNvSpPr>
          <p:nvPr>
            <p:ph type="sldNum" sz="quarter" idx="12"/>
          </p:nvPr>
        </p:nvSpPr>
        <p:spPr/>
        <p:txBody>
          <a:bodyPr/>
          <a:lstStyle/>
          <a:p>
            <a:fld id="{989033DA-4FB3-4863-BE40-35B8BF45D7BC}" type="slidenum">
              <a:rPr lang="es-ES" smtClean="0"/>
              <a:pPr/>
              <a:t>6</a:t>
            </a:fld>
            <a:endParaRPr lang="es-ES"/>
          </a:p>
        </p:txBody>
      </p:sp>
      <p:pic>
        <p:nvPicPr>
          <p:cNvPr id="7" name="Imagen 6">
            <a:extLst>
              <a:ext uri="{FF2B5EF4-FFF2-40B4-BE49-F238E27FC236}">
                <a16:creationId xmlns:a16="http://schemas.microsoft.com/office/drawing/2014/main" id="{1CF4EED4-226D-4A65-821E-AF2C08A3850C}"/>
              </a:ext>
            </a:extLst>
          </p:cNvPr>
          <p:cNvPicPr>
            <a:picLocks noChangeAspect="1"/>
          </p:cNvPicPr>
          <p:nvPr/>
        </p:nvPicPr>
        <p:blipFill>
          <a:blip r:embed="rId3"/>
          <a:stretch>
            <a:fillRect/>
          </a:stretch>
        </p:blipFill>
        <p:spPr>
          <a:xfrm>
            <a:off x="179512" y="1268760"/>
            <a:ext cx="5653337" cy="3970407"/>
          </a:xfrm>
          <a:prstGeom prst="rect">
            <a:avLst/>
          </a:prstGeom>
          <a:noFill/>
          <a:ln w="38100">
            <a:solidFill>
              <a:schemeClr val="tx1">
                <a:lumMod val="65000"/>
                <a:lumOff val="35000"/>
              </a:schemeClr>
            </a:solidFill>
          </a:ln>
        </p:spPr>
      </p:pic>
      <p:sp>
        <p:nvSpPr>
          <p:cNvPr id="12" name="CuadroTexto 11">
            <a:extLst>
              <a:ext uri="{FF2B5EF4-FFF2-40B4-BE49-F238E27FC236}">
                <a16:creationId xmlns:a16="http://schemas.microsoft.com/office/drawing/2014/main" id="{09B39B44-696E-472A-BA7C-B43CA9CE720F}"/>
              </a:ext>
            </a:extLst>
          </p:cNvPr>
          <p:cNvSpPr txBox="1"/>
          <p:nvPr/>
        </p:nvSpPr>
        <p:spPr>
          <a:xfrm>
            <a:off x="2853834" y="3393866"/>
            <a:ext cx="6364435" cy="646331"/>
          </a:xfrm>
          <a:prstGeom prst="rect">
            <a:avLst/>
          </a:prstGeom>
          <a:noFill/>
        </p:spPr>
        <p:txBody>
          <a:bodyPr wrap="none" rtlCol="0">
            <a:spAutoFit/>
          </a:bodyPr>
          <a:lstStyle/>
          <a:p>
            <a:r>
              <a:rPr lang="es-ES" sz="3600"/>
              <a:t>http://mydomain.com/robots.txt</a:t>
            </a:r>
          </a:p>
        </p:txBody>
      </p:sp>
      <p:sp>
        <p:nvSpPr>
          <p:cNvPr id="13" name="Rectángulo 12">
            <a:extLst>
              <a:ext uri="{FF2B5EF4-FFF2-40B4-BE49-F238E27FC236}">
                <a16:creationId xmlns:a16="http://schemas.microsoft.com/office/drawing/2014/main" id="{094F73A0-9F00-40E8-8553-607AC76DAC6F}"/>
              </a:ext>
            </a:extLst>
          </p:cNvPr>
          <p:cNvSpPr/>
          <p:nvPr/>
        </p:nvSpPr>
        <p:spPr>
          <a:xfrm>
            <a:off x="2949528" y="4123368"/>
            <a:ext cx="5870943" cy="2308324"/>
          </a:xfrm>
          <a:prstGeom prst="rect">
            <a:avLst/>
          </a:prstGeom>
          <a:solidFill>
            <a:schemeClr val="accent4">
              <a:lumMod val="20000"/>
              <a:lumOff val="80000"/>
            </a:schemeClr>
          </a:solidFill>
          <a:ln w="38100">
            <a:solidFill>
              <a:schemeClr val="tx1">
                <a:lumMod val="65000"/>
                <a:lumOff val="35000"/>
              </a:schemeClr>
            </a:solidFill>
          </a:ln>
        </p:spPr>
        <p:txBody>
          <a:bodyPr wrap="square">
            <a:spAutoFit/>
          </a:bodyPr>
          <a:lstStyle/>
          <a:p>
            <a:r>
              <a:rPr lang="es-ES" sz="1600">
                <a:latin typeface="Consolas" panose="020B0609020204030204" pitchFamily="49" charset="0"/>
              </a:rPr>
              <a:t># robots.txt – Reservation of rights for TDM (DSM Directive, Art. 4)</a:t>
            </a:r>
            <a:br>
              <a:rPr lang="es-ES" sz="1600">
                <a:latin typeface="Consolas" panose="020B0609020204030204" pitchFamily="49" charset="0"/>
              </a:rPr>
            </a:br>
            <a:r>
              <a:rPr lang="es-ES" sz="1600">
                <a:solidFill>
                  <a:srgbClr val="C00000"/>
                </a:solidFill>
                <a:latin typeface="Consolas" panose="020B0609020204030204" pitchFamily="49" charset="0"/>
              </a:rPr>
              <a:t>User-agent: *</a:t>
            </a:r>
            <a:br>
              <a:rPr lang="es-ES" sz="1600">
                <a:solidFill>
                  <a:srgbClr val="C00000"/>
                </a:solidFill>
                <a:latin typeface="Consolas" panose="020B0609020204030204" pitchFamily="49" charset="0"/>
              </a:rPr>
            </a:br>
            <a:r>
              <a:rPr lang="es-ES" sz="1600">
                <a:solidFill>
                  <a:srgbClr val="C00000"/>
                </a:solidFill>
                <a:latin typeface="Consolas" panose="020B0609020204030204" pitchFamily="49" charset="0"/>
              </a:rPr>
              <a:t>Disallow: /</a:t>
            </a:r>
            <a:br>
              <a:rPr lang="es-ES" sz="1600">
                <a:latin typeface="Consolas" panose="020B0609020204030204" pitchFamily="49" charset="0"/>
              </a:rPr>
            </a:br>
            <a:br>
              <a:rPr lang="es-ES" sz="1600">
                <a:latin typeface="Consolas" panose="020B0609020204030204" pitchFamily="49" charset="0"/>
              </a:rPr>
            </a:br>
            <a:r>
              <a:rPr lang="es-ES" sz="1600">
                <a:latin typeface="Consolas" panose="020B0609020204030204" pitchFamily="49" charset="0"/>
              </a:rPr>
              <a:t># EXPRESS RESERVATION OF RIGHTS (redundant)</a:t>
            </a:r>
            <a:br>
              <a:rPr lang="es-ES" sz="1600">
                <a:latin typeface="Consolas" panose="020B0609020204030204" pitchFamily="49" charset="0"/>
              </a:rPr>
            </a:br>
            <a:r>
              <a:rPr lang="es-ES" sz="1600">
                <a:latin typeface="Consolas" panose="020B0609020204030204" pitchFamily="49" charset="0"/>
              </a:rPr>
              <a:t># Specific AI / data mining crawlers</a:t>
            </a:r>
            <a:br>
              <a:rPr lang="es-ES" sz="1600">
                <a:latin typeface="Consolas" panose="020B0609020204030204" pitchFamily="49" charset="0"/>
              </a:rPr>
            </a:br>
            <a:r>
              <a:rPr lang="es-ES" sz="1600">
                <a:solidFill>
                  <a:srgbClr val="C00000"/>
                </a:solidFill>
                <a:latin typeface="Consolas" panose="020B0609020204030204" pitchFamily="49" charset="0"/>
              </a:rPr>
              <a:t>User-agent: GPTBot</a:t>
            </a:r>
            <a:br>
              <a:rPr lang="es-ES" sz="1600">
                <a:solidFill>
                  <a:srgbClr val="C00000"/>
                </a:solidFill>
                <a:latin typeface="Consolas" panose="020B0609020204030204" pitchFamily="49" charset="0"/>
              </a:rPr>
            </a:br>
            <a:r>
              <a:rPr lang="es-ES" sz="1600">
                <a:solidFill>
                  <a:srgbClr val="C00000"/>
                </a:solidFill>
                <a:latin typeface="Consolas" panose="020B0609020204030204" pitchFamily="49" charset="0"/>
              </a:rPr>
              <a:t>Disallow: /</a:t>
            </a:r>
          </a:p>
        </p:txBody>
      </p:sp>
      <p:cxnSp>
        <p:nvCxnSpPr>
          <p:cNvPr id="10" name="Conector recto de flecha 9">
            <a:extLst>
              <a:ext uri="{FF2B5EF4-FFF2-40B4-BE49-F238E27FC236}">
                <a16:creationId xmlns:a16="http://schemas.microsoft.com/office/drawing/2014/main" id="{2AB2C97A-EE2D-4B8B-8ED0-C240DCB8E831}"/>
              </a:ext>
            </a:extLst>
          </p:cNvPr>
          <p:cNvCxnSpPr>
            <a:cxnSpLocks/>
          </p:cNvCxnSpPr>
          <p:nvPr/>
        </p:nvCxnSpPr>
        <p:spPr>
          <a:xfrm>
            <a:off x="2249587" y="3717032"/>
            <a:ext cx="1008112" cy="580127"/>
          </a:xfrm>
          <a:prstGeom prst="straightConnector1">
            <a:avLst/>
          </a:prstGeom>
          <a:ln w="127000">
            <a:solidFill>
              <a:schemeClr val="accent6">
                <a:lumMod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50122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EBA8DB-5ADD-458C-A4D3-3E07E34A1C6E}"/>
              </a:ext>
            </a:extLst>
          </p:cNvPr>
          <p:cNvSpPr>
            <a:spLocks noGrp="1"/>
          </p:cNvSpPr>
          <p:nvPr>
            <p:ph type="title"/>
          </p:nvPr>
        </p:nvSpPr>
        <p:spPr/>
        <p:txBody>
          <a:bodyPr/>
          <a:lstStyle/>
          <a:p>
            <a:r>
              <a:rPr lang="es-ES"/>
              <a:t>Policy with legal value</a:t>
            </a:r>
          </a:p>
        </p:txBody>
      </p:sp>
      <p:sp>
        <p:nvSpPr>
          <p:cNvPr id="3" name="Marcador de contenido 2">
            <a:extLst>
              <a:ext uri="{FF2B5EF4-FFF2-40B4-BE49-F238E27FC236}">
                <a16:creationId xmlns:a16="http://schemas.microsoft.com/office/drawing/2014/main" id="{E398FCA8-B434-4F77-9674-526C7047E785}"/>
              </a:ext>
            </a:extLst>
          </p:cNvPr>
          <p:cNvSpPr>
            <a:spLocks noGrp="1"/>
          </p:cNvSpPr>
          <p:nvPr>
            <p:ph idx="1"/>
          </p:nvPr>
        </p:nvSpPr>
        <p:spPr>
          <a:xfrm>
            <a:off x="457200" y="1600201"/>
            <a:ext cx="8229600" cy="1324744"/>
          </a:xfrm>
        </p:spPr>
        <p:txBody>
          <a:bodyPr>
            <a:noAutofit/>
          </a:bodyPr>
          <a:lstStyle/>
          <a:p>
            <a:r>
              <a:rPr lang="en-US" sz="2400"/>
              <a:t>Under Directive (EU) 2019/790 (Art. 4), Text and Data Mining is permitted by default, unless the rightholder expressly reserves their rights; </a:t>
            </a:r>
          </a:p>
          <a:p>
            <a:r>
              <a:rPr lang="en-US" sz="2400"/>
              <a:t>A policy removes the exception</a:t>
            </a:r>
            <a:endParaRPr lang="es-ES" sz="2400"/>
          </a:p>
        </p:txBody>
      </p:sp>
      <p:sp>
        <p:nvSpPr>
          <p:cNvPr id="4" name="Marcador de número de diapositiva 3">
            <a:extLst>
              <a:ext uri="{FF2B5EF4-FFF2-40B4-BE49-F238E27FC236}">
                <a16:creationId xmlns:a16="http://schemas.microsoft.com/office/drawing/2014/main" id="{63A3025B-A8AD-4236-B470-D58F6E02D7D3}"/>
              </a:ext>
            </a:extLst>
          </p:cNvPr>
          <p:cNvSpPr>
            <a:spLocks noGrp="1"/>
          </p:cNvSpPr>
          <p:nvPr>
            <p:ph type="sldNum" sz="quarter" idx="12"/>
          </p:nvPr>
        </p:nvSpPr>
        <p:spPr/>
        <p:txBody>
          <a:bodyPr/>
          <a:lstStyle/>
          <a:p>
            <a:fld id="{989033DA-4FB3-4863-BE40-35B8BF45D7BC}" type="slidenum">
              <a:rPr lang="es-ES" smtClean="0"/>
              <a:pPr/>
              <a:t>7</a:t>
            </a:fld>
            <a:endParaRPr lang="es-ES"/>
          </a:p>
        </p:txBody>
      </p:sp>
    </p:spTree>
    <p:extLst>
      <p:ext uri="{BB962C8B-B14F-4D97-AF65-F5344CB8AC3E}">
        <p14:creationId xmlns:p14="http://schemas.microsoft.com/office/powerpoint/2010/main" val="31373886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C25925B-3307-4845-9E76-6C5EA64794B9}"/>
              </a:ext>
            </a:extLst>
          </p:cNvPr>
          <p:cNvSpPr>
            <a:spLocks noGrp="1"/>
          </p:cNvSpPr>
          <p:nvPr>
            <p:ph type="title"/>
          </p:nvPr>
        </p:nvSpPr>
        <p:spPr/>
        <p:txBody>
          <a:bodyPr/>
          <a:lstStyle/>
          <a:p>
            <a:r>
              <a:rPr lang="es-ES"/>
              <a:t>Policy with technical force</a:t>
            </a:r>
          </a:p>
        </p:txBody>
      </p:sp>
      <p:sp>
        <p:nvSpPr>
          <p:cNvPr id="4" name="Marcador de número de diapositiva 3">
            <a:extLst>
              <a:ext uri="{FF2B5EF4-FFF2-40B4-BE49-F238E27FC236}">
                <a16:creationId xmlns:a16="http://schemas.microsoft.com/office/drawing/2014/main" id="{DDCC009F-8A8A-48FA-A117-A6E45AC4B6A2}"/>
              </a:ext>
            </a:extLst>
          </p:cNvPr>
          <p:cNvSpPr>
            <a:spLocks noGrp="1"/>
          </p:cNvSpPr>
          <p:nvPr>
            <p:ph type="sldNum" sz="quarter" idx="12"/>
          </p:nvPr>
        </p:nvSpPr>
        <p:spPr/>
        <p:txBody>
          <a:bodyPr/>
          <a:lstStyle/>
          <a:p>
            <a:fld id="{989033DA-4FB3-4863-BE40-35B8BF45D7BC}" type="slidenum">
              <a:rPr lang="es-ES" smtClean="0"/>
              <a:pPr/>
              <a:t>8</a:t>
            </a:fld>
            <a:endParaRPr lang="es-ES"/>
          </a:p>
        </p:txBody>
      </p:sp>
      <p:pic>
        <p:nvPicPr>
          <p:cNvPr id="6" name="Imagen 5">
            <a:extLst>
              <a:ext uri="{FF2B5EF4-FFF2-40B4-BE49-F238E27FC236}">
                <a16:creationId xmlns:a16="http://schemas.microsoft.com/office/drawing/2014/main" id="{7B162E6E-AC65-4BE6-9636-080A5AAF8F7D}"/>
              </a:ext>
            </a:extLst>
          </p:cNvPr>
          <p:cNvPicPr>
            <a:picLocks noChangeAspect="1"/>
          </p:cNvPicPr>
          <p:nvPr/>
        </p:nvPicPr>
        <p:blipFill>
          <a:blip r:embed="rId3"/>
          <a:stretch>
            <a:fillRect/>
          </a:stretch>
        </p:blipFill>
        <p:spPr>
          <a:xfrm>
            <a:off x="247209" y="1449459"/>
            <a:ext cx="2543530" cy="2114845"/>
          </a:xfrm>
          <a:prstGeom prst="rect">
            <a:avLst/>
          </a:prstGeom>
          <a:noFill/>
          <a:ln w="38100">
            <a:solidFill>
              <a:schemeClr val="tx1">
                <a:lumMod val="65000"/>
                <a:lumOff val="35000"/>
              </a:schemeClr>
            </a:solidFill>
          </a:ln>
        </p:spPr>
      </p:pic>
      <p:sp>
        <p:nvSpPr>
          <p:cNvPr id="7" name="Rectángulo 6">
            <a:extLst>
              <a:ext uri="{FF2B5EF4-FFF2-40B4-BE49-F238E27FC236}">
                <a16:creationId xmlns:a16="http://schemas.microsoft.com/office/drawing/2014/main" id="{4F66004B-2008-4FCC-AB2F-12E8094081E8}"/>
              </a:ext>
            </a:extLst>
          </p:cNvPr>
          <p:cNvSpPr/>
          <p:nvPr/>
        </p:nvSpPr>
        <p:spPr>
          <a:xfrm>
            <a:off x="3069904" y="3412882"/>
            <a:ext cx="5886301" cy="3139321"/>
          </a:xfrm>
          <a:prstGeom prst="rect">
            <a:avLst/>
          </a:prstGeom>
          <a:solidFill>
            <a:schemeClr val="accent4">
              <a:lumMod val="20000"/>
              <a:lumOff val="80000"/>
            </a:schemeClr>
          </a:solidFill>
          <a:ln w="38100">
            <a:solidFill>
              <a:schemeClr val="tx1">
                <a:lumMod val="65000"/>
                <a:lumOff val="35000"/>
              </a:schemeClr>
            </a:solidFill>
          </a:ln>
        </p:spPr>
        <p:txBody>
          <a:bodyPr wrap="square">
            <a:spAutoFit/>
          </a:bodyPr>
          <a:lstStyle/>
          <a:p>
            <a:r>
              <a:rPr lang="en-US">
                <a:latin typeface="Consolas" panose="020B0609020204030204" pitchFamily="49" charset="0"/>
              </a:rPr>
              <a:t># .htaccess – Access restriction policy</a:t>
            </a:r>
          </a:p>
          <a:p>
            <a:r>
              <a:rPr lang="en-US">
                <a:latin typeface="Consolas" panose="020B0609020204030204" pitchFamily="49" charset="0"/>
              </a:rPr>
              <a:t># Deny all HTTP access to this directory</a:t>
            </a:r>
          </a:p>
          <a:p>
            <a:endParaRPr lang="en-US">
              <a:latin typeface="Consolas" panose="020B0609020204030204" pitchFamily="49" charset="0"/>
            </a:endParaRPr>
          </a:p>
          <a:p>
            <a:r>
              <a:rPr lang="en-US">
                <a:solidFill>
                  <a:srgbClr val="C00000"/>
                </a:solidFill>
                <a:latin typeface="Consolas" panose="020B0609020204030204" pitchFamily="49" charset="0"/>
              </a:rPr>
              <a:t>Require all denied</a:t>
            </a:r>
          </a:p>
          <a:p>
            <a:endParaRPr lang="en-US">
              <a:latin typeface="Consolas" panose="020B0609020204030204" pitchFamily="49" charset="0"/>
            </a:endParaRPr>
          </a:p>
          <a:p>
            <a:r>
              <a:rPr lang="en-US">
                <a:latin typeface="Consolas" panose="020B0609020204030204" pitchFamily="49" charset="0"/>
              </a:rPr>
              <a:t># Optional: explicit legal notice (for evidential purposes)</a:t>
            </a:r>
          </a:p>
          <a:p>
            <a:r>
              <a:rPr lang="en-US">
                <a:latin typeface="Consolas" panose="020B0609020204030204" pitchFamily="49" charset="0"/>
              </a:rPr>
              <a:t>&lt;IfModule mod_headers.c&gt;</a:t>
            </a:r>
          </a:p>
          <a:p>
            <a:r>
              <a:rPr lang="en-US">
                <a:latin typeface="Consolas" panose="020B0609020204030204" pitchFamily="49" charset="0"/>
              </a:rPr>
              <a:t>  Header set X-Policy-Notice "Access to this resource is restricted."</a:t>
            </a:r>
          </a:p>
          <a:p>
            <a:r>
              <a:rPr lang="en-US">
                <a:latin typeface="Consolas" panose="020B0609020204030204" pitchFamily="49" charset="0"/>
              </a:rPr>
              <a:t>&lt;/IfModule&gt;</a:t>
            </a:r>
            <a:endParaRPr lang="es-ES">
              <a:latin typeface="Consolas" panose="020B0609020204030204" pitchFamily="49" charset="0"/>
            </a:endParaRPr>
          </a:p>
        </p:txBody>
      </p:sp>
      <p:sp>
        <p:nvSpPr>
          <p:cNvPr id="8" name="CuadroTexto 7">
            <a:extLst>
              <a:ext uri="{FF2B5EF4-FFF2-40B4-BE49-F238E27FC236}">
                <a16:creationId xmlns:a16="http://schemas.microsoft.com/office/drawing/2014/main" id="{EE996474-9BC8-4CF8-AF34-F6E2420C7F84}"/>
              </a:ext>
            </a:extLst>
          </p:cNvPr>
          <p:cNvSpPr txBox="1"/>
          <p:nvPr/>
        </p:nvSpPr>
        <p:spPr>
          <a:xfrm>
            <a:off x="3069904" y="2905780"/>
            <a:ext cx="6055760" cy="523220"/>
          </a:xfrm>
          <a:prstGeom prst="rect">
            <a:avLst/>
          </a:prstGeom>
          <a:noFill/>
        </p:spPr>
        <p:txBody>
          <a:bodyPr wrap="none" rtlCol="0">
            <a:spAutoFit/>
          </a:bodyPr>
          <a:lstStyle/>
          <a:p>
            <a:r>
              <a:rPr lang="es-ES" sz="2800"/>
              <a:t>http://mydomain.com/private/.htaccess</a:t>
            </a:r>
          </a:p>
        </p:txBody>
      </p:sp>
      <p:cxnSp>
        <p:nvCxnSpPr>
          <p:cNvPr id="9" name="Conector recto de flecha 8">
            <a:extLst>
              <a:ext uri="{FF2B5EF4-FFF2-40B4-BE49-F238E27FC236}">
                <a16:creationId xmlns:a16="http://schemas.microsoft.com/office/drawing/2014/main" id="{DCF28B8A-874F-4C4A-B914-6F40B8EC11FA}"/>
              </a:ext>
            </a:extLst>
          </p:cNvPr>
          <p:cNvCxnSpPr>
            <a:cxnSpLocks/>
          </p:cNvCxnSpPr>
          <p:nvPr/>
        </p:nvCxnSpPr>
        <p:spPr>
          <a:xfrm>
            <a:off x="1518974" y="2590164"/>
            <a:ext cx="1756882" cy="974140"/>
          </a:xfrm>
          <a:prstGeom prst="straightConnector1">
            <a:avLst/>
          </a:prstGeom>
          <a:ln w="127000">
            <a:solidFill>
              <a:schemeClr val="accent6">
                <a:lumMod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72237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EBA8DB-5ADD-458C-A4D3-3E07E34A1C6E}"/>
              </a:ext>
            </a:extLst>
          </p:cNvPr>
          <p:cNvSpPr>
            <a:spLocks noGrp="1"/>
          </p:cNvSpPr>
          <p:nvPr>
            <p:ph type="title"/>
          </p:nvPr>
        </p:nvSpPr>
        <p:spPr/>
        <p:txBody>
          <a:bodyPr/>
          <a:lstStyle/>
          <a:p>
            <a:r>
              <a:rPr lang="es-ES"/>
              <a:t>Policy with technical force</a:t>
            </a:r>
          </a:p>
        </p:txBody>
      </p:sp>
      <p:sp>
        <p:nvSpPr>
          <p:cNvPr id="3" name="Marcador de contenido 2">
            <a:extLst>
              <a:ext uri="{FF2B5EF4-FFF2-40B4-BE49-F238E27FC236}">
                <a16:creationId xmlns:a16="http://schemas.microsoft.com/office/drawing/2014/main" id="{E398FCA8-B434-4F77-9674-526C7047E785}"/>
              </a:ext>
            </a:extLst>
          </p:cNvPr>
          <p:cNvSpPr>
            <a:spLocks noGrp="1"/>
          </p:cNvSpPr>
          <p:nvPr>
            <p:ph idx="1"/>
          </p:nvPr>
        </p:nvSpPr>
        <p:spPr>
          <a:xfrm>
            <a:off x="457200" y="1600201"/>
            <a:ext cx="8229600" cy="1324744"/>
          </a:xfrm>
        </p:spPr>
        <p:txBody>
          <a:bodyPr>
            <a:noAutofit/>
          </a:bodyPr>
          <a:lstStyle/>
          <a:p>
            <a:r>
              <a:rPr lang="en-US" sz="2400"/>
              <a:t>Server-level configuration files (e.g. .htaccess in Apache HTTP Server) implement access control policies that enforces the webmaster's will.</a:t>
            </a:r>
          </a:p>
          <a:p>
            <a:endParaRPr lang="en-US" sz="2400"/>
          </a:p>
          <a:p>
            <a:r>
              <a:rPr lang="en-US" sz="2400"/>
              <a:t>Side note: Incidentally, it also express a clear prohibition of access, which additional legal value: under copyright law, the circumvention or violation of a technological protection measure (TPM) is independently unlawful, regardless of whether access would otherwise be permitted under copyright exceptions.</a:t>
            </a:r>
            <a:endParaRPr lang="es-ES" sz="2400"/>
          </a:p>
        </p:txBody>
      </p:sp>
      <p:sp>
        <p:nvSpPr>
          <p:cNvPr id="4" name="Marcador de número de diapositiva 3">
            <a:extLst>
              <a:ext uri="{FF2B5EF4-FFF2-40B4-BE49-F238E27FC236}">
                <a16:creationId xmlns:a16="http://schemas.microsoft.com/office/drawing/2014/main" id="{63A3025B-A8AD-4236-B470-D58F6E02D7D3}"/>
              </a:ext>
            </a:extLst>
          </p:cNvPr>
          <p:cNvSpPr>
            <a:spLocks noGrp="1"/>
          </p:cNvSpPr>
          <p:nvPr>
            <p:ph type="sldNum" sz="quarter" idx="12"/>
          </p:nvPr>
        </p:nvSpPr>
        <p:spPr/>
        <p:txBody>
          <a:bodyPr/>
          <a:lstStyle/>
          <a:p>
            <a:fld id="{989033DA-4FB3-4863-BE40-35B8BF45D7BC}" type="slidenum">
              <a:rPr lang="es-ES" smtClean="0"/>
              <a:pPr/>
              <a:t>9</a:t>
            </a:fld>
            <a:endParaRPr lang="es-ES"/>
          </a:p>
        </p:txBody>
      </p:sp>
    </p:spTree>
    <p:extLst>
      <p:ext uri="{BB962C8B-B14F-4D97-AF65-F5344CB8AC3E}">
        <p14:creationId xmlns:p14="http://schemas.microsoft.com/office/powerpoint/2010/main" val="12211488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9746832-FFA8-45CD-B245-745D4B16A241}"/>
              </a:ext>
            </a:extLst>
          </p:cNvPr>
          <p:cNvSpPr>
            <a:spLocks noGrp="1"/>
          </p:cNvSpPr>
          <p:nvPr>
            <p:ph type="title"/>
          </p:nvPr>
        </p:nvSpPr>
        <p:spPr/>
        <p:txBody>
          <a:bodyPr/>
          <a:lstStyle/>
          <a:p>
            <a:r>
              <a:rPr lang="es-ES"/>
              <a:t>The expression is a policy</a:t>
            </a:r>
          </a:p>
        </p:txBody>
      </p:sp>
      <p:sp>
        <p:nvSpPr>
          <p:cNvPr id="4" name="Marcador de número de diapositiva 3">
            <a:extLst>
              <a:ext uri="{FF2B5EF4-FFF2-40B4-BE49-F238E27FC236}">
                <a16:creationId xmlns:a16="http://schemas.microsoft.com/office/drawing/2014/main" id="{F8CCEC5F-A35F-4B36-BF0D-3405CAE1D22C}"/>
              </a:ext>
            </a:extLst>
          </p:cNvPr>
          <p:cNvSpPr>
            <a:spLocks noGrp="1"/>
          </p:cNvSpPr>
          <p:nvPr>
            <p:ph type="sldNum" sz="quarter" idx="12"/>
          </p:nvPr>
        </p:nvSpPr>
        <p:spPr/>
        <p:txBody>
          <a:bodyPr/>
          <a:lstStyle/>
          <a:p>
            <a:fld id="{989033DA-4FB3-4863-BE40-35B8BF45D7BC}" type="slidenum">
              <a:rPr lang="es-ES" smtClean="0"/>
              <a:pPr/>
              <a:t>10</a:t>
            </a:fld>
            <a:endParaRPr lang="es-ES"/>
          </a:p>
        </p:txBody>
      </p:sp>
      <p:pic>
        <p:nvPicPr>
          <p:cNvPr id="5" name="Imagen 4">
            <a:extLst>
              <a:ext uri="{FF2B5EF4-FFF2-40B4-BE49-F238E27FC236}">
                <a16:creationId xmlns:a16="http://schemas.microsoft.com/office/drawing/2014/main" id="{EFB8AB35-A7BC-4D3E-893B-A745C7866E4A}"/>
              </a:ext>
            </a:extLst>
          </p:cNvPr>
          <p:cNvPicPr>
            <a:picLocks noChangeAspect="1"/>
          </p:cNvPicPr>
          <p:nvPr/>
        </p:nvPicPr>
        <p:blipFill>
          <a:blip r:embed="rId2"/>
          <a:stretch>
            <a:fillRect/>
          </a:stretch>
        </p:blipFill>
        <p:spPr>
          <a:xfrm>
            <a:off x="606972" y="4429235"/>
            <a:ext cx="753083" cy="1620271"/>
          </a:xfrm>
          <a:prstGeom prst="rect">
            <a:avLst/>
          </a:prstGeom>
        </p:spPr>
      </p:pic>
      <p:sp>
        <p:nvSpPr>
          <p:cNvPr id="6" name="Bocadillo: rectángulo con esquinas redondeadas 5">
            <a:extLst>
              <a:ext uri="{FF2B5EF4-FFF2-40B4-BE49-F238E27FC236}">
                <a16:creationId xmlns:a16="http://schemas.microsoft.com/office/drawing/2014/main" id="{AD6F3D4D-B7D3-445B-B26E-EB251672D8C5}"/>
              </a:ext>
            </a:extLst>
          </p:cNvPr>
          <p:cNvSpPr/>
          <p:nvPr/>
        </p:nvSpPr>
        <p:spPr>
          <a:xfrm>
            <a:off x="251520" y="2852936"/>
            <a:ext cx="1800200" cy="871973"/>
          </a:xfrm>
          <a:prstGeom prst="wedgeRoundRectCallout">
            <a:avLst>
              <a:gd name="adj1" fmla="val -14101"/>
              <a:gd name="adj2" fmla="val 124409"/>
              <a:gd name="adj3" fmla="val 16667"/>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3600">
                <a:solidFill>
                  <a:schemeClr val="tx1">
                    <a:lumMod val="85000"/>
                    <a:lumOff val="15000"/>
                  </a:schemeClr>
                </a:solidFill>
              </a:rPr>
              <a:t>I want X</a:t>
            </a:r>
          </a:p>
        </p:txBody>
      </p:sp>
      <p:pic>
        <p:nvPicPr>
          <p:cNvPr id="8" name="Picture 2" descr="El día que España vació la cámara acorazada del Banco de España para  siempre: ni rastro del dinero">
            <a:extLst>
              <a:ext uri="{FF2B5EF4-FFF2-40B4-BE49-F238E27FC236}">
                <a16:creationId xmlns:a16="http://schemas.microsoft.com/office/drawing/2014/main" id="{643BAC7C-8087-4C4B-854D-72C298C6568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41355" y="1282224"/>
            <a:ext cx="2784309" cy="2123658"/>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descr="474,005 Court Laws Royalty-Free Images, Stock Photos &amp; Pictures |  Shutterstock">
            <a:extLst>
              <a:ext uri="{FF2B5EF4-FFF2-40B4-BE49-F238E27FC236}">
                <a16:creationId xmlns:a16="http://schemas.microsoft.com/office/drawing/2014/main" id="{DAD217F8-8F84-4752-9C8C-DD144781C43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217177" y="4123368"/>
            <a:ext cx="2908487" cy="1938991"/>
          </a:xfrm>
          <a:prstGeom prst="rect">
            <a:avLst/>
          </a:prstGeom>
          <a:noFill/>
          <a:extLst>
            <a:ext uri="{909E8E84-426E-40DD-AFC4-6F175D3DCCD1}">
              <a14:hiddenFill xmlns:a14="http://schemas.microsoft.com/office/drawing/2010/main">
                <a:solidFill>
                  <a:srgbClr val="FFFFFF"/>
                </a:solidFill>
              </a14:hiddenFill>
            </a:ext>
          </a:extLst>
        </p:spPr>
      </p:pic>
      <p:cxnSp>
        <p:nvCxnSpPr>
          <p:cNvPr id="11" name="Conector recto de flecha 10">
            <a:extLst>
              <a:ext uri="{FF2B5EF4-FFF2-40B4-BE49-F238E27FC236}">
                <a16:creationId xmlns:a16="http://schemas.microsoft.com/office/drawing/2014/main" id="{5799E757-B069-4F12-BBC1-678836E4A023}"/>
              </a:ext>
            </a:extLst>
          </p:cNvPr>
          <p:cNvCxnSpPr>
            <a:cxnSpLocks/>
          </p:cNvCxnSpPr>
          <p:nvPr/>
        </p:nvCxnSpPr>
        <p:spPr>
          <a:xfrm flipV="1">
            <a:off x="2123728" y="2685619"/>
            <a:ext cx="678918" cy="256017"/>
          </a:xfrm>
          <a:prstGeom prst="straightConnector1">
            <a:avLst/>
          </a:prstGeom>
          <a:ln w="127000">
            <a:solidFill>
              <a:schemeClr val="accent6">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Conector recto de flecha 12">
            <a:extLst>
              <a:ext uri="{FF2B5EF4-FFF2-40B4-BE49-F238E27FC236}">
                <a16:creationId xmlns:a16="http://schemas.microsoft.com/office/drawing/2014/main" id="{B0F1C1AD-134E-47F2-AC31-7E396A4090CF}"/>
              </a:ext>
            </a:extLst>
          </p:cNvPr>
          <p:cNvCxnSpPr>
            <a:cxnSpLocks/>
          </p:cNvCxnSpPr>
          <p:nvPr/>
        </p:nvCxnSpPr>
        <p:spPr>
          <a:xfrm>
            <a:off x="2051720" y="3789040"/>
            <a:ext cx="576064" cy="504056"/>
          </a:xfrm>
          <a:prstGeom prst="straightConnector1">
            <a:avLst/>
          </a:prstGeom>
          <a:ln w="127000">
            <a:solidFill>
              <a:schemeClr val="accent6">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8" name="Rectángulo 17">
            <a:extLst>
              <a:ext uri="{FF2B5EF4-FFF2-40B4-BE49-F238E27FC236}">
                <a16:creationId xmlns:a16="http://schemas.microsoft.com/office/drawing/2014/main" id="{C33FFCF8-0673-4562-BCB0-7085C0F40B9E}"/>
              </a:ext>
            </a:extLst>
          </p:cNvPr>
          <p:cNvSpPr/>
          <p:nvPr/>
        </p:nvSpPr>
        <p:spPr>
          <a:xfrm>
            <a:off x="2949529" y="4123368"/>
            <a:ext cx="3690920" cy="1938992"/>
          </a:xfrm>
          <a:prstGeom prst="rect">
            <a:avLst/>
          </a:prstGeom>
          <a:solidFill>
            <a:schemeClr val="accent4">
              <a:lumMod val="20000"/>
              <a:lumOff val="80000"/>
            </a:schemeClr>
          </a:solidFill>
          <a:ln w="38100">
            <a:solidFill>
              <a:schemeClr val="tx1">
                <a:lumMod val="65000"/>
                <a:lumOff val="35000"/>
              </a:schemeClr>
            </a:solidFill>
          </a:ln>
        </p:spPr>
        <p:txBody>
          <a:bodyPr wrap="square">
            <a:spAutoFit/>
          </a:bodyPr>
          <a:lstStyle/>
          <a:p>
            <a:r>
              <a:rPr lang="es-ES" sz="1200">
                <a:latin typeface="Consolas" panose="020B0609020204030204" pitchFamily="49" charset="0"/>
              </a:rPr>
              <a:t># robots.txt – Reservation of rights for TDM (DSM Directive, Art. 4)</a:t>
            </a:r>
            <a:br>
              <a:rPr lang="es-ES" sz="1200">
                <a:latin typeface="Consolas" panose="020B0609020204030204" pitchFamily="49" charset="0"/>
              </a:rPr>
            </a:br>
            <a:r>
              <a:rPr lang="es-ES" sz="1200">
                <a:solidFill>
                  <a:srgbClr val="C00000"/>
                </a:solidFill>
                <a:latin typeface="Consolas" panose="020B0609020204030204" pitchFamily="49" charset="0"/>
              </a:rPr>
              <a:t>User-agent: *</a:t>
            </a:r>
            <a:br>
              <a:rPr lang="es-ES" sz="1200">
                <a:solidFill>
                  <a:srgbClr val="C00000"/>
                </a:solidFill>
                <a:latin typeface="Consolas" panose="020B0609020204030204" pitchFamily="49" charset="0"/>
              </a:rPr>
            </a:br>
            <a:r>
              <a:rPr lang="es-ES" sz="1200">
                <a:solidFill>
                  <a:srgbClr val="C00000"/>
                </a:solidFill>
                <a:latin typeface="Consolas" panose="020B0609020204030204" pitchFamily="49" charset="0"/>
              </a:rPr>
              <a:t>Disallow: /</a:t>
            </a:r>
            <a:br>
              <a:rPr lang="es-ES" sz="1200">
                <a:latin typeface="Consolas" panose="020B0609020204030204" pitchFamily="49" charset="0"/>
              </a:rPr>
            </a:br>
            <a:br>
              <a:rPr lang="es-ES" sz="1200">
                <a:latin typeface="Consolas" panose="020B0609020204030204" pitchFamily="49" charset="0"/>
              </a:rPr>
            </a:br>
            <a:r>
              <a:rPr lang="es-ES" sz="1200">
                <a:latin typeface="Consolas" panose="020B0609020204030204" pitchFamily="49" charset="0"/>
              </a:rPr>
              <a:t># EXPRESS RESERVATION OF RIGHTS (redundant)</a:t>
            </a:r>
            <a:br>
              <a:rPr lang="es-ES" sz="1200">
                <a:latin typeface="Consolas" panose="020B0609020204030204" pitchFamily="49" charset="0"/>
              </a:rPr>
            </a:br>
            <a:r>
              <a:rPr lang="es-ES" sz="1200">
                <a:latin typeface="Consolas" panose="020B0609020204030204" pitchFamily="49" charset="0"/>
              </a:rPr>
              <a:t># Specific AI / data mining crawlers</a:t>
            </a:r>
            <a:br>
              <a:rPr lang="es-ES" sz="1200">
                <a:latin typeface="Consolas" panose="020B0609020204030204" pitchFamily="49" charset="0"/>
              </a:rPr>
            </a:br>
            <a:r>
              <a:rPr lang="es-ES" sz="1200">
                <a:solidFill>
                  <a:srgbClr val="C00000"/>
                </a:solidFill>
                <a:latin typeface="Consolas" panose="020B0609020204030204" pitchFamily="49" charset="0"/>
              </a:rPr>
              <a:t>User-agent: GPTBot</a:t>
            </a:r>
            <a:br>
              <a:rPr lang="es-ES" sz="1200">
                <a:solidFill>
                  <a:srgbClr val="C00000"/>
                </a:solidFill>
                <a:latin typeface="Consolas" panose="020B0609020204030204" pitchFamily="49" charset="0"/>
              </a:rPr>
            </a:br>
            <a:r>
              <a:rPr lang="es-ES" sz="1200">
                <a:solidFill>
                  <a:srgbClr val="C00000"/>
                </a:solidFill>
                <a:latin typeface="Consolas" panose="020B0609020204030204" pitchFamily="49" charset="0"/>
              </a:rPr>
              <a:t>Disallow: /</a:t>
            </a:r>
          </a:p>
        </p:txBody>
      </p:sp>
      <p:sp>
        <p:nvSpPr>
          <p:cNvPr id="20" name="Rectángulo 19">
            <a:extLst>
              <a:ext uri="{FF2B5EF4-FFF2-40B4-BE49-F238E27FC236}">
                <a16:creationId xmlns:a16="http://schemas.microsoft.com/office/drawing/2014/main" id="{81D9EFAD-5418-4436-A34C-5FB0AD5E5986}"/>
              </a:ext>
            </a:extLst>
          </p:cNvPr>
          <p:cNvSpPr/>
          <p:nvPr/>
        </p:nvSpPr>
        <p:spPr>
          <a:xfrm>
            <a:off x="2941623" y="1282225"/>
            <a:ext cx="3690920" cy="2123658"/>
          </a:xfrm>
          <a:prstGeom prst="rect">
            <a:avLst/>
          </a:prstGeom>
          <a:solidFill>
            <a:schemeClr val="accent4">
              <a:lumMod val="20000"/>
              <a:lumOff val="80000"/>
            </a:schemeClr>
          </a:solidFill>
          <a:ln w="38100">
            <a:solidFill>
              <a:schemeClr val="tx1">
                <a:lumMod val="65000"/>
                <a:lumOff val="35000"/>
              </a:schemeClr>
            </a:solidFill>
          </a:ln>
        </p:spPr>
        <p:txBody>
          <a:bodyPr wrap="square">
            <a:spAutoFit/>
          </a:bodyPr>
          <a:lstStyle/>
          <a:p>
            <a:r>
              <a:rPr lang="en-US" sz="1200">
                <a:latin typeface="Consolas" panose="020B0609020204030204" pitchFamily="49" charset="0"/>
              </a:rPr>
              <a:t># .htaccess – Access restriction policy</a:t>
            </a:r>
          </a:p>
          <a:p>
            <a:r>
              <a:rPr lang="en-US" sz="1200">
                <a:latin typeface="Consolas" panose="020B0609020204030204" pitchFamily="49" charset="0"/>
              </a:rPr>
              <a:t># Deny all HTTP access to this directory</a:t>
            </a:r>
          </a:p>
          <a:p>
            <a:endParaRPr lang="en-US" sz="1200">
              <a:latin typeface="Consolas" panose="020B0609020204030204" pitchFamily="49" charset="0"/>
            </a:endParaRPr>
          </a:p>
          <a:p>
            <a:r>
              <a:rPr lang="en-US" sz="1200">
                <a:solidFill>
                  <a:srgbClr val="C00000"/>
                </a:solidFill>
                <a:latin typeface="Consolas" panose="020B0609020204030204" pitchFamily="49" charset="0"/>
              </a:rPr>
              <a:t>Require all denied</a:t>
            </a:r>
          </a:p>
          <a:p>
            <a:endParaRPr lang="en-US" sz="1200">
              <a:latin typeface="Consolas" panose="020B0609020204030204" pitchFamily="49" charset="0"/>
            </a:endParaRPr>
          </a:p>
          <a:p>
            <a:r>
              <a:rPr lang="en-US" sz="1200">
                <a:latin typeface="Consolas" panose="020B0609020204030204" pitchFamily="49" charset="0"/>
              </a:rPr>
              <a:t># Optional: explicit legal notice (for evidential purposes)</a:t>
            </a:r>
          </a:p>
          <a:p>
            <a:r>
              <a:rPr lang="en-US" sz="1200">
                <a:latin typeface="Consolas" panose="020B0609020204030204" pitchFamily="49" charset="0"/>
              </a:rPr>
              <a:t>&lt;IfModule mod_headers.c&gt;</a:t>
            </a:r>
          </a:p>
          <a:p>
            <a:r>
              <a:rPr lang="en-US" sz="1200">
                <a:latin typeface="Consolas" panose="020B0609020204030204" pitchFamily="49" charset="0"/>
              </a:rPr>
              <a:t>  Header set X-Policy-Notice "Access to this resource is restricted."</a:t>
            </a:r>
          </a:p>
          <a:p>
            <a:r>
              <a:rPr lang="en-US" sz="1200">
                <a:latin typeface="Consolas" panose="020B0609020204030204" pitchFamily="49" charset="0"/>
              </a:rPr>
              <a:t>&lt;/IfModule&gt;</a:t>
            </a:r>
            <a:endParaRPr lang="es-ES" sz="1200">
              <a:latin typeface="Consolas" panose="020B0609020204030204" pitchFamily="49" charset="0"/>
            </a:endParaRPr>
          </a:p>
        </p:txBody>
      </p:sp>
    </p:spTree>
    <p:extLst>
      <p:ext uri="{BB962C8B-B14F-4D97-AF65-F5344CB8AC3E}">
        <p14:creationId xmlns:p14="http://schemas.microsoft.com/office/powerpoint/2010/main" val="26500524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ítulo 4">
            <a:extLst>
              <a:ext uri="{FF2B5EF4-FFF2-40B4-BE49-F238E27FC236}">
                <a16:creationId xmlns:a16="http://schemas.microsoft.com/office/drawing/2014/main" id="{71805771-ED97-44E7-9C9C-833E2C4CE80D}"/>
              </a:ext>
            </a:extLst>
          </p:cNvPr>
          <p:cNvSpPr>
            <a:spLocks noGrp="1"/>
          </p:cNvSpPr>
          <p:nvPr>
            <p:ph type="title"/>
          </p:nvPr>
        </p:nvSpPr>
        <p:spPr/>
        <p:txBody>
          <a:bodyPr/>
          <a:lstStyle/>
          <a:p>
            <a:r>
              <a:rPr lang="es-ES"/>
              <a:t>👉Exercise</a:t>
            </a:r>
          </a:p>
        </p:txBody>
      </p:sp>
      <p:sp>
        <p:nvSpPr>
          <p:cNvPr id="6" name="Marcador de contenido 5">
            <a:extLst>
              <a:ext uri="{FF2B5EF4-FFF2-40B4-BE49-F238E27FC236}">
                <a16:creationId xmlns:a16="http://schemas.microsoft.com/office/drawing/2014/main" id="{2050BCC0-0B55-44FE-916F-C2E63FE13357}"/>
              </a:ext>
            </a:extLst>
          </p:cNvPr>
          <p:cNvSpPr>
            <a:spLocks noGrp="1"/>
          </p:cNvSpPr>
          <p:nvPr>
            <p:ph idx="1"/>
          </p:nvPr>
        </p:nvSpPr>
        <p:spPr/>
        <p:txBody>
          <a:bodyPr/>
          <a:lstStyle/>
          <a:p>
            <a:r>
              <a:rPr lang="es-ES"/>
              <a:t>Visit some of your favourite's domains</a:t>
            </a:r>
          </a:p>
          <a:p>
            <a:r>
              <a:rPr lang="es-ES"/>
              <a:t>Retrieve the robots.txt file</a:t>
            </a:r>
          </a:p>
        </p:txBody>
      </p:sp>
      <p:sp>
        <p:nvSpPr>
          <p:cNvPr id="4" name="Marcador de número de diapositiva 3">
            <a:extLst>
              <a:ext uri="{FF2B5EF4-FFF2-40B4-BE49-F238E27FC236}">
                <a16:creationId xmlns:a16="http://schemas.microsoft.com/office/drawing/2014/main" id="{1A8F4E9B-835C-4CE9-9C24-F5FE10DDB847}"/>
              </a:ext>
            </a:extLst>
          </p:cNvPr>
          <p:cNvSpPr>
            <a:spLocks noGrp="1"/>
          </p:cNvSpPr>
          <p:nvPr>
            <p:ph type="sldNum" sz="quarter" idx="12"/>
          </p:nvPr>
        </p:nvSpPr>
        <p:spPr/>
        <p:txBody>
          <a:bodyPr/>
          <a:lstStyle/>
          <a:p>
            <a:fld id="{989033DA-4FB3-4863-BE40-35B8BF45D7BC}" type="slidenum">
              <a:rPr lang="es-ES" smtClean="0"/>
              <a:pPr/>
              <a:t>11</a:t>
            </a:fld>
            <a:endParaRPr lang="es-ES"/>
          </a:p>
        </p:txBody>
      </p:sp>
    </p:spTree>
    <p:extLst>
      <p:ext uri="{BB962C8B-B14F-4D97-AF65-F5344CB8AC3E}">
        <p14:creationId xmlns:p14="http://schemas.microsoft.com/office/powerpoint/2010/main" val="26970795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ítulo 4">
            <a:extLst>
              <a:ext uri="{FF2B5EF4-FFF2-40B4-BE49-F238E27FC236}">
                <a16:creationId xmlns:a16="http://schemas.microsoft.com/office/drawing/2014/main" id="{418BD13A-2C29-41B2-AA15-51BE55D83CCE}"/>
              </a:ext>
            </a:extLst>
          </p:cNvPr>
          <p:cNvSpPr>
            <a:spLocks noGrp="1"/>
          </p:cNvSpPr>
          <p:nvPr>
            <p:ph type="title"/>
          </p:nvPr>
        </p:nvSpPr>
        <p:spPr/>
        <p:txBody>
          <a:bodyPr/>
          <a:lstStyle/>
          <a:p>
            <a:r>
              <a:rPr lang="es-ES"/>
              <a:t>Syntax of a policy</a:t>
            </a:r>
          </a:p>
        </p:txBody>
      </p:sp>
      <p:sp>
        <p:nvSpPr>
          <p:cNvPr id="4" name="Marcador de número de diapositiva 3">
            <a:extLst>
              <a:ext uri="{FF2B5EF4-FFF2-40B4-BE49-F238E27FC236}">
                <a16:creationId xmlns:a16="http://schemas.microsoft.com/office/drawing/2014/main" id="{A6765171-D1E9-474F-9740-D35261C38FF1}"/>
              </a:ext>
            </a:extLst>
          </p:cNvPr>
          <p:cNvSpPr>
            <a:spLocks noGrp="1"/>
          </p:cNvSpPr>
          <p:nvPr>
            <p:ph type="sldNum" sz="quarter" idx="4294967295"/>
          </p:nvPr>
        </p:nvSpPr>
        <p:spPr>
          <a:xfrm>
            <a:off x="7010400" y="6486525"/>
            <a:ext cx="2133600" cy="365125"/>
          </a:xfrm>
        </p:spPr>
        <p:txBody>
          <a:bodyPr/>
          <a:lstStyle/>
          <a:p>
            <a:fld id="{989033DA-4FB3-4863-BE40-35B8BF45D7BC}" type="slidenum">
              <a:rPr lang="es-ES" smtClean="0"/>
              <a:pPr/>
              <a:t>12</a:t>
            </a:fld>
            <a:endParaRPr lang="es-ES"/>
          </a:p>
        </p:txBody>
      </p:sp>
    </p:spTree>
    <p:extLst>
      <p:ext uri="{BB962C8B-B14F-4D97-AF65-F5344CB8AC3E}">
        <p14:creationId xmlns:p14="http://schemas.microsoft.com/office/powerpoint/2010/main" val="23530710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CB92BED-CB27-4764-8B28-EC8C09D050E9}"/>
              </a:ext>
            </a:extLst>
          </p:cNvPr>
          <p:cNvSpPr>
            <a:spLocks noGrp="1"/>
          </p:cNvSpPr>
          <p:nvPr>
            <p:ph type="title"/>
          </p:nvPr>
        </p:nvSpPr>
        <p:spPr/>
        <p:txBody>
          <a:bodyPr/>
          <a:lstStyle/>
          <a:p>
            <a:endParaRPr lang="es-ES"/>
          </a:p>
        </p:txBody>
      </p:sp>
      <p:sp>
        <p:nvSpPr>
          <p:cNvPr id="3" name="Marcador de contenido 2">
            <a:extLst>
              <a:ext uri="{FF2B5EF4-FFF2-40B4-BE49-F238E27FC236}">
                <a16:creationId xmlns:a16="http://schemas.microsoft.com/office/drawing/2014/main" id="{2E2CEB05-2EB1-4E65-ADE4-BABE619C6E53}"/>
              </a:ext>
            </a:extLst>
          </p:cNvPr>
          <p:cNvSpPr>
            <a:spLocks noGrp="1"/>
          </p:cNvSpPr>
          <p:nvPr>
            <p:ph idx="1"/>
          </p:nvPr>
        </p:nvSpPr>
        <p:spPr/>
        <p:txBody>
          <a:bodyPr/>
          <a:lstStyle/>
          <a:p>
            <a:endParaRPr lang="es-ES"/>
          </a:p>
        </p:txBody>
      </p:sp>
      <p:sp>
        <p:nvSpPr>
          <p:cNvPr id="4" name="Marcador de número de diapositiva 3">
            <a:extLst>
              <a:ext uri="{FF2B5EF4-FFF2-40B4-BE49-F238E27FC236}">
                <a16:creationId xmlns:a16="http://schemas.microsoft.com/office/drawing/2014/main" id="{87645C4E-ADDE-4447-8FF2-237757F86C76}"/>
              </a:ext>
            </a:extLst>
          </p:cNvPr>
          <p:cNvSpPr>
            <a:spLocks noGrp="1"/>
          </p:cNvSpPr>
          <p:nvPr>
            <p:ph type="sldNum" sz="quarter" idx="12"/>
          </p:nvPr>
        </p:nvSpPr>
        <p:spPr/>
        <p:txBody>
          <a:bodyPr/>
          <a:lstStyle/>
          <a:p>
            <a:fld id="{989033DA-4FB3-4863-BE40-35B8BF45D7BC}" type="slidenum">
              <a:rPr lang="es-ES" smtClean="0"/>
              <a:pPr/>
              <a:t>13</a:t>
            </a:fld>
            <a:endParaRPr lang="es-ES"/>
          </a:p>
        </p:txBody>
      </p:sp>
    </p:spTree>
    <p:extLst>
      <p:ext uri="{BB962C8B-B14F-4D97-AF65-F5344CB8AC3E}">
        <p14:creationId xmlns:p14="http://schemas.microsoft.com/office/powerpoint/2010/main" val="34964415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ítulo 4">
            <a:extLst>
              <a:ext uri="{FF2B5EF4-FFF2-40B4-BE49-F238E27FC236}">
                <a16:creationId xmlns:a16="http://schemas.microsoft.com/office/drawing/2014/main" id="{822B761F-7E4D-4236-B69F-F6EFCC5F9D54}"/>
              </a:ext>
            </a:extLst>
          </p:cNvPr>
          <p:cNvSpPr>
            <a:spLocks noGrp="1"/>
          </p:cNvSpPr>
          <p:nvPr>
            <p:ph type="title"/>
          </p:nvPr>
        </p:nvSpPr>
        <p:spPr/>
        <p:txBody>
          <a:bodyPr/>
          <a:lstStyle/>
          <a:p>
            <a:r>
              <a:rPr lang="es-ES"/>
              <a:t>Types of access control</a:t>
            </a:r>
          </a:p>
        </p:txBody>
      </p:sp>
      <p:sp>
        <p:nvSpPr>
          <p:cNvPr id="4" name="Marcador de número de diapositiva 3">
            <a:extLst>
              <a:ext uri="{FF2B5EF4-FFF2-40B4-BE49-F238E27FC236}">
                <a16:creationId xmlns:a16="http://schemas.microsoft.com/office/drawing/2014/main" id="{7CB64750-A722-4015-B123-9CD363785EDB}"/>
              </a:ext>
            </a:extLst>
          </p:cNvPr>
          <p:cNvSpPr>
            <a:spLocks noGrp="1"/>
          </p:cNvSpPr>
          <p:nvPr>
            <p:ph type="sldNum" sz="quarter" idx="4294967295"/>
          </p:nvPr>
        </p:nvSpPr>
        <p:spPr>
          <a:xfrm>
            <a:off x="7010400" y="6486525"/>
            <a:ext cx="2133600" cy="365125"/>
          </a:xfrm>
        </p:spPr>
        <p:txBody>
          <a:bodyPr/>
          <a:lstStyle/>
          <a:p>
            <a:fld id="{989033DA-4FB3-4863-BE40-35B8BF45D7BC}" type="slidenum">
              <a:rPr lang="es-ES" smtClean="0"/>
              <a:pPr/>
              <a:t>14</a:t>
            </a:fld>
            <a:endParaRPr lang="es-ES"/>
          </a:p>
        </p:txBody>
      </p:sp>
    </p:spTree>
    <p:extLst>
      <p:ext uri="{BB962C8B-B14F-4D97-AF65-F5344CB8AC3E}">
        <p14:creationId xmlns:p14="http://schemas.microsoft.com/office/powerpoint/2010/main" val="5795428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ítulo 5">
            <a:extLst>
              <a:ext uri="{FF2B5EF4-FFF2-40B4-BE49-F238E27FC236}">
                <a16:creationId xmlns:a16="http://schemas.microsoft.com/office/drawing/2014/main" id="{4E1396D0-B2A3-4D01-9A50-28A2AD692292}"/>
              </a:ext>
            </a:extLst>
          </p:cNvPr>
          <p:cNvSpPr>
            <a:spLocks noGrp="1"/>
          </p:cNvSpPr>
          <p:nvPr>
            <p:ph type="title"/>
          </p:nvPr>
        </p:nvSpPr>
        <p:spPr>
          <a:xfrm>
            <a:off x="0" y="-18750"/>
            <a:ext cx="8460432" cy="495422"/>
          </a:xfrm>
        </p:spPr>
        <p:txBody>
          <a:bodyPr/>
          <a:lstStyle/>
          <a:p>
            <a:r>
              <a:rPr lang="es-ES"/>
              <a:t>Types of access control</a:t>
            </a:r>
          </a:p>
        </p:txBody>
      </p:sp>
      <p:sp>
        <p:nvSpPr>
          <p:cNvPr id="3" name="Marcador de contenido 2">
            <a:extLst>
              <a:ext uri="{FF2B5EF4-FFF2-40B4-BE49-F238E27FC236}">
                <a16:creationId xmlns:a16="http://schemas.microsoft.com/office/drawing/2014/main" id="{96E5D7A8-A99D-4DE3-AF25-786F5EBA89F1}"/>
              </a:ext>
            </a:extLst>
          </p:cNvPr>
          <p:cNvSpPr>
            <a:spLocks noGrp="1"/>
          </p:cNvSpPr>
          <p:nvPr>
            <p:ph idx="1"/>
          </p:nvPr>
        </p:nvSpPr>
        <p:spPr>
          <a:xfrm>
            <a:off x="18336" y="692696"/>
            <a:ext cx="9125664" cy="4887089"/>
          </a:xfrm>
        </p:spPr>
        <p:txBody>
          <a:bodyPr/>
          <a:lstStyle/>
          <a:p>
            <a:r>
              <a:rPr lang="es-ES"/>
              <a:t>Access control lists</a:t>
            </a:r>
          </a:p>
          <a:p>
            <a:pPr lvl="1"/>
            <a:r>
              <a:rPr lang="en-US"/>
              <a:t>Access control lists are the oldest and most basic form of access control. Set of users and operations that can be performed on a resource as a mapping.</a:t>
            </a:r>
          </a:p>
          <a:p>
            <a:r>
              <a:rPr lang="en-US"/>
              <a:t>Attribute-based access control (ABAC) </a:t>
            </a:r>
          </a:p>
          <a:p>
            <a:pPr lvl="1"/>
            <a:r>
              <a:rPr lang="en-US"/>
              <a:t>access rights are granted to users through the use of policies that combine attributes together.</a:t>
            </a:r>
          </a:p>
          <a:p>
            <a:r>
              <a:rPr lang="en-US"/>
              <a:t>Role-based Access Control (RBAC)</a:t>
            </a:r>
          </a:p>
          <a:p>
            <a:pPr lvl="1"/>
            <a:r>
              <a:rPr lang="en-US"/>
              <a:t>restrict access to authorized users based on their role. The roles define the resources that can be accessed by users assigned to that role</a:t>
            </a:r>
          </a:p>
          <a:p>
            <a:r>
              <a:rPr lang="es-ES"/>
              <a:t>Policy-based Access Control</a:t>
            </a:r>
          </a:p>
          <a:p>
            <a:pPr lvl="1"/>
            <a:r>
              <a:rPr lang="en-US"/>
              <a:t>access is based on unambiguous policies using authorized attribute sources in the enterprise</a:t>
            </a:r>
          </a:p>
          <a:p>
            <a:endParaRPr lang="en-US"/>
          </a:p>
          <a:p>
            <a:endParaRPr lang="en-US"/>
          </a:p>
          <a:p>
            <a:endParaRPr lang="es-ES"/>
          </a:p>
        </p:txBody>
      </p:sp>
      <p:sp>
        <p:nvSpPr>
          <p:cNvPr id="4" name="Marcador de número de diapositiva 3">
            <a:extLst>
              <a:ext uri="{FF2B5EF4-FFF2-40B4-BE49-F238E27FC236}">
                <a16:creationId xmlns:a16="http://schemas.microsoft.com/office/drawing/2014/main" id="{4030ACC9-87A3-475A-812F-790525149A6E}"/>
              </a:ext>
            </a:extLst>
          </p:cNvPr>
          <p:cNvSpPr>
            <a:spLocks noGrp="1"/>
          </p:cNvSpPr>
          <p:nvPr>
            <p:ph type="sldNum" sz="quarter" idx="12"/>
          </p:nvPr>
        </p:nvSpPr>
        <p:spPr/>
        <p:txBody>
          <a:bodyPr/>
          <a:lstStyle/>
          <a:p>
            <a:fld id="{989033DA-4FB3-4863-BE40-35B8BF45D7BC}" type="slidenum">
              <a:rPr lang="es-ES" smtClean="0"/>
              <a:pPr/>
              <a:t>15</a:t>
            </a:fld>
            <a:endParaRPr lang="es-ES"/>
          </a:p>
        </p:txBody>
      </p:sp>
    </p:spTree>
    <p:extLst>
      <p:ext uri="{BB962C8B-B14F-4D97-AF65-F5344CB8AC3E}">
        <p14:creationId xmlns:p14="http://schemas.microsoft.com/office/powerpoint/2010/main" val="23442570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ítulo 4">
            <a:extLst>
              <a:ext uri="{FF2B5EF4-FFF2-40B4-BE49-F238E27FC236}">
                <a16:creationId xmlns:a16="http://schemas.microsoft.com/office/drawing/2014/main" id="{822B761F-7E4D-4236-B69F-F6EFCC5F9D54}"/>
              </a:ext>
            </a:extLst>
          </p:cNvPr>
          <p:cNvSpPr>
            <a:spLocks noGrp="1"/>
          </p:cNvSpPr>
          <p:nvPr>
            <p:ph type="title"/>
          </p:nvPr>
        </p:nvSpPr>
        <p:spPr/>
        <p:txBody>
          <a:bodyPr/>
          <a:lstStyle/>
          <a:p>
            <a:r>
              <a:rPr lang="es-ES"/>
              <a:t>XACML</a:t>
            </a:r>
          </a:p>
        </p:txBody>
      </p:sp>
      <p:sp>
        <p:nvSpPr>
          <p:cNvPr id="4" name="Marcador de número de diapositiva 3">
            <a:extLst>
              <a:ext uri="{FF2B5EF4-FFF2-40B4-BE49-F238E27FC236}">
                <a16:creationId xmlns:a16="http://schemas.microsoft.com/office/drawing/2014/main" id="{7CB64750-A722-4015-B123-9CD363785EDB}"/>
              </a:ext>
            </a:extLst>
          </p:cNvPr>
          <p:cNvSpPr>
            <a:spLocks noGrp="1"/>
          </p:cNvSpPr>
          <p:nvPr>
            <p:ph type="sldNum" sz="quarter" idx="4294967295"/>
          </p:nvPr>
        </p:nvSpPr>
        <p:spPr>
          <a:xfrm>
            <a:off x="7010400" y="6486525"/>
            <a:ext cx="2133600" cy="365125"/>
          </a:xfrm>
        </p:spPr>
        <p:txBody>
          <a:bodyPr/>
          <a:lstStyle/>
          <a:p>
            <a:fld id="{989033DA-4FB3-4863-BE40-35B8BF45D7BC}" type="slidenum">
              <a:rPr lang="es-ES" smtClean="0"/>
              <a:pPr/>
              <a:t>16</a:t>
            </a:fld>
            <a:endParaRPr lang="es-ES"/>
          </a:p>
        </p:txBody>
      </p:sp>
    </p:spTree>
    <p:extLst>
      <p:ext uri="{BB962C8B-B14F-4D97-AF65-F5344CB8AC3E}">
        <p14:creationId xmlns:p14="http://schemas.microsoft.com/office/powerpoint/2010/main" val="16304644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E77AB4E-1230-4A8C-A38C-AD2132DEA6A3}"/>
              </a:ext>
            </a:extLst>
          </p:cNvPr>
          <p:cNvSpPr>
            <a:spLocks noGrp="1"/>
          </p:cNvSpPr>
          <p:nvPr>
            <p:ph type="title"/>
          </p:nvPr>
        </p:nvSpPr>
        <p:spPr/>
        <p:txBody>
          <a:bodyPr/>
          <a:lstStyle/>
          <a:p>
            <a:r>
              <a:rPr lang="es-ES"/>
              <a:t>XACML</a:t>
            </a:r>
            <a:br>
              <a:rPr lang="es-ES"/>
            </a:br>
            <a:r>
              <a:rPr lang="en-US"/>
              <a:t>eXtensible Access Control Markup Language</a:t>
            </a:r>
            <a:endParaRPr lang="es-ES"/>
          </a:p>
        </p:txBody>
      </p:sp>
      <p:sp>
        <p:nvSpPr>
          <p:cNvPr id="3" name="Marcador de contenido 2">
            <a:extLst>
              <a:ext uri="{FF2B5EF4-FFF2-40B4-BE49-F238E27FC236}">
                <a16:creationId xmlns:a16="http://schemas.microsoft.com/office/drawing/2014/main" id="{6E077C47-F76E-4B69-958C-B81700A2817E}"/>
              </a:ext>
            </a:extLst>
          </p:cNvPr>
          <p:cNvSpPr>
            <a:spLocks noGrp="1"/>
          </p:cNvSpPr>
          <p:nvPr>
            <p:ph idx="1"/>
          </p:nvPr>
        </p:nvSpPr>
        <p:spPr/>
        <p:txBody>
          <a:bodyPr/>
          <a:lstStyle/>
          <a:p>
            <a:r>
              <a:rPr lang="en-US"/>
              <a:t>OASIS policy specification (2003): A standard XML language to express </a:t>
            </a:r>
            <a:r>
              <a:rPr lang="en-US" b="1"/>
              <a:t>who can do what on which resource</a:t>
            </a:r>
            <a:r>
              <a:rPr lang="en-US"/>
              <a:t>, and a standard request/response protocol</a:t>
            </a:r>
          </a:p>
          <a:p>
            <a:r>
              <a:rPr lang="en-US"/>
              <a:t>Why it matters :</a:t>
            </a:r>
          </a:p>
          <a:p>
            <a:pPr lvl="1"/>
            <a:r>
              <a:rPr lang="en-US" b="1">
                <a:solidFill>
                  <a:srgbClr val="C00000"/>
                </a:solidFill>
              </a:rPr>
              <a:t>First </a:t>
            </a:r>
            <a:r>
              <a:rPr lang="en-US"/>
              <a:t>standard policy language for access control</a:t>
            </a:r>
          </a:p>
          <a:p>
            <a:pPr lvl="1"/>
            <a:r>
              <a:rPr lang="en-US"/>
              <a:t>Introduced the clean PAP / PDP / PEP architectural separation that all modern authorisation systems still follow</a:t>
            </a:r>
          </a:p>
          <a:p>
            <a:pPr lvl="1"/>
            <a:r>
              <a:rPr lang="en-US">
                <a:solidFill>
                  <a:srgbClr val="C00000"/>
                </a:solidFill>
              </a:rPr>
              <a:t>Policies became declarative and portable</a:t>
            </a:r>
            <a:r>
              <a:rPr lang="en-US"/>
              <a:t>: write once, enforce anywhere</a:t>
            </a:r>
          </a:p>
          <a:p>
            <a:pPr lvl="1"/>
            <a:r>
              <a:rPr lang="en-US"/>
              <a:t>Directly influenced later standards and frameworks</a:t>
            </a:r>
            <a:endParaRPr lang="es-ES"/>
          </a:p>
        </p:txBody>
      </p:sp>
      <p:sp>
        <p:nvSpPr>
          <p:cNvPr id="4" name="Marcador de número de diapositiva 3">
            <a:extLst>
              <a:ext uri="{FF2B5EF4-FFF2-40B4-BE49-F238E27FC236}">
                <a16:creationId xmlns:a16="http://schemas.microsoft.com/office/drawing/2014/main" id="{2E46C7F9-6F92-485E-ADBB-84BC0F21A0B6}"/>
              </a:ext>
            </a:extLst>
          </p:cNvPr>
          <p:cNvSpPr>
            <a:spLocks noGrp="1"/>
          </p:cNvSpPr>
          <p:nvPr>
            <p:ph type="sldNum" sz="quarter" idx="12"/>
          </p:nvPr>
        </p:nvSpPr>
        <p:spPr/>
        <p:txBody>
          <a:bodyPr/>
          <a:lstStyle/>
          <a:p>
            <a:fld id="{989033DA-4FB3-4863-BE40-35B8BF45D7BC}" type="slidenum">
              <a:rPr lang="es-ES" smtClean="0"/>
              <a:pPr/>
              <a:t>17</a:t>
            </a:fld>
            <a:endParaRPr lang="es-ES"/>
          </a:p>
        </p:txBody>
      </p:sp>
    </p:spTree>
    <p:extLst>
      <p:ext uri="{BB962C8B-B14F-4D97-AF65-F5344CB8AC3E}">
        <p14:creationId xmlns:p14="http://schemas.microsoft.com/office/powerpoint/2010/main" val="14566147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1E92AB-43D4-415E-BDD8-55A6F6678A28}"/>
              </a:ext>
            </a:extLst>
          </p:cNvPr>
          <p:cNvSpPr>
            <a:spLocks noGrp="1"/>
          </p:cNvSpPr>
          <p:nvPr>
            <p:ph type="title"/>
          </p:nvPr>
        </p:nvSpPr>
        <p:spPr/>
        <p:txBody>
          <a:bodyPr/>
          <a:lstStyle/>
          <a:p>
            <a:r>
              <a:rPr lang="es-ES"/>
              <a:t>XACML architecture</a:t>
            </a:r>
          </a:p>
        </p:txBody>
      </p:sp>
      <p:sp>
        <p:nvSpPr>
          <p:cNvPr id="4" name="Marcador de número de diapositiva 3">
            <a:extLst>
              <a:ext uri="{FF2B5EF4-FFF2-40B4-BE49-F238E27FC236}">
                <a16:creationId xmlns:a16="http://schemas.microsoft.com/office/drawing/2014/main" id="{CA3D3539-187D-4B03-9C23-4306449B5B8E}"/>
              </a:ext>
            </a:extLst>
          </p:cNvPr>
          <p:cNvSpPr>
            <a:spLocks noGrp="1"/>
          </p:cNvSpPr>
          <p:nvPr>
            <p:ph type="sldNum" sz="quarter" idx="12"/>
          </p:nvPr>
        </p:nvSpPr>
        <p:spPr/>
        <p:txBody>
          <a:bodyPr/>
          <a:lstStyle/>
          <a:p>
            <a:fld id="{989033DA-4FB3-4863-BE40-35B8BF45D7BC}" type="slidenum">
              <a:rPr lang="es-ES" smtClean="0"/>
              <a:pPr/>
              <a:t>18</a:t>
            </a:fld>
            <a:endParaRPr lang="es-ES"/>
          </a:p>
        </p:txBody>
      </p:sp>
      <p:pic>
        <p:nvPicPr>
          <p:cNvPr id="9218" name="Picture 2" descr="XACML system architecture">
            <a:extLst>
              <a:ext uri="{FF2B5EF4-FFF2-40B4-BE49-F238E27FC236}">
                <a16:creationId xmlns:a16="http://schemas.microsoft.com/office/drawing/2014/main" id="{F6D562D9-7555-48FE-B1DC-74D3AF92A5C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244600"/>
            <a:ext cx="9144000" cy="4368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132724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1E92AB-43D4-415E-BDD8-55A6F6678A28}"/>
              </a:ext>
            </a:extLst>
          </p:cNvPr>
          <p:cNvSpPr>
            <a:spLocks noGrp="1"/>
          </p:cNvSpPr>
          <p:nvPr>
            <p:ph type="title"/>
          </p:nvPr>
        </p:nvSpPr>
        <p:spPr/>
        <p:txBody>
          <a:bodyPr/>
          <a:lstStyle/>
          <a:p>
            <a:r>
              <a:rPr lang="es-ES"/>
              <a:t>XACML architecture</a:t>
            </a:r>
          </a:p>
        </p:txBody>
      </p:sp>
      <p:sp>
        <p:nvSpPr>
          <p:cNvPr id="4" name="Marcador de número de diapositiva 3">
            <a:extLst>
              <a:ext uri="{FF2B5EF4-FFF2-40B4-BE49-F238E27FC236}">
                <a16:creationId xmlns:a16="http://schemas.microsoft.com/office/drawing/2014/main" id="{CA3D3539-187D-4B03-9C23-4306449B5B8E}"/>
              </a:ext>
            </a:extLst>
          </p:cNvPr>
          <p:cNvSpPr>
            <a:spLocks noGrp="1"/>
          </p:cNvSpPr>
          <p:nvPr>
            <p:ph type="sldNum" sz="quarter" idx="12"/>
          </p:nvPr>
        </p:nvSpPr>
        <p:spPr/>
        <p:txBody>
          <a:bodyPr/>
          <a:lstStyle/>
          <a:p>
            <a:fld id="{989033DA-4FB3-4863-BE40-35B8BF45D7BC}" type="slidenum">
              <a:rPr lang="es-ES" smtClean="0"/>
              <a:pPr/>
              <a:t>19</a:t>
            </a:fld>
            <a:endParaRPr lang="es-ES"/>
          </a:p>
        </p:txBody>
      </p:sp>
      <p:pic>
        <p:nvPicPr>
          <p:cNvPr id="9218" name="Picture 2" descr="XACML system architecture">
            <a:extLst>
              <a:ext uri="{FF2B5EF4-FFF2-40B4-BE49-F238E27FC236}">
                <a16:creationId xmlns:a16="http://schemas.microsoft.com/office/drawing/2014/main" id="{F6D562D9-7555-48FE-B1DC-74D3AF92A5CD}"/>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saturation sat="10000"/>
                    </a14:imgEffect>
                  </a14:imgLayer>
                </a14:imgProps>
              </a:ext>
              <a:ext uri="{28A0092B-C50C-407E-A947-70E740481C1C}">
                <a14:useLocalDpi xmlns:a14="http://schemas.microsoft.com/office/drawing/2010/main" val="0"/>
              </a:ext>
            </a:extLst>
          </a:blip>
          <a:srcRect/>
          <a:stretch>
            <a:fillRect/>
          </a:stretch>
        </p:blipFill>
        <p:spPr bwMode="auto">
          <a:xfrm>
            <a:off x="0" y="1244600"/>
            <a:ext cx="9144000" cy="4368800"/>
          </a:xfrm>
          <a:prstGeom prst="rect">
            <a:avLst/>
          </a:prstGeom>
          <a:noFill/>
          <a:extLst>
            <a:ext uri="{909E8E84-426E-40DD-AFC4-6F175D3DCCD1}">
              <a14:hiddenFill xmlns:a14="http://schemas.microsoft.com/office/drawing/2010/main">
                <a:solidFill>
                  <a:srgbClr val="FFFFFF"/>
                </a:solidFill>
              </a14:hiddenFill>
            </a:ext>
          </a:extLst>
        </p:spPr>
      </p:pic>
      <p:sp>
        <p:nvSpPr>
          <p:cNvPr id="5" name="Globo: línea doblada doble 4">
            <a:extLst>
              <a:ext uri="{FF2B5EF4-FFF2-40B4-BE49-F238E27FC236}">
                <a16:creationId xmlns:a16="http://schemas.microsoft.com/office/drawing/2014/main" id="{9DF90B70-3FE3-4692-80DC-D644637A4EF2}"/>
              </a:ext>
            </a:extLst>
          </p:cNvPr>
          <p:cNvSpPr/>
          <p:nvPr/>
        </p:nvSpPr>
        <p:spPr>
          <a:xfrm>
            <a:off x="1403648" y="5910226"/>
            <a:ext cx="2232248" cy="759133"/>
          </a:xfrm>
          <a:prstGeom prst="borderCallout3">
            <a:avLst>
              <a:gd name="adj1" fmla="val 18750"/>
              <a:gd name="adj2" fmla="val -8333"/>
              <a:gd name="adj3" fmla="val 18750"/>
              <a:gd name="adj4" fmla="val -16667"/>
              <a:gd name="adj5" fmla="val -94957"/>
              <a:gd name="adj6" fmla="val -43093"/>
              <a:gd name="adj7" fmla="val -317539"/>
              <a:gd name="adj8" fmla="val -37319"/>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a:solidFill>
                  <a:schemeClr val="tx1"/>
                </a:solidFill>
              </a:rPr>
              <a:t>Provides information</a:t>
            </a:r>
          </a:p>
        </p:txBody>
      </p:sp>
      <p:sp>
        <p:nvSpPr>
          <p:cNvPr id="6" name="Globo: línea doblada doble 5">
            <a:extLst>
              <a:ext uri="{FF2B5EF4-FFF2-40B4-BE49-F238E27FC236}">
                <a16:creationId xmlns:a16="http://schemas.microsoft.com/office/drawing/2014/main" id="{B758C4AC-8ED4-4B4E-95D2-F14987F3D4C8}"/>
              </a:ext>
            </a:extLst>
          </p:cNvPr>
          <p:cNvSpPr/>
          <p:nvPr/>
        </p:nvSpPr>
        <p:spPr>
          <a:xfrm>
            <a:off x="6156176" y="5942036"/>
            <a:ext cx="2232248" cy="759133"/>
          </a:xfrm>
          <a:prstGeom prst="borderCallout3">
            <a:avLst>
              <a:gd name="adj1" fmla="val 18750"/>
              <a:gd name="adj2" fmla="val -8333"/>
              <a:gd name="adj3" fmla="val 18750"/>
              <a:gd name="adj4" fmla="val -16667"/>
              <a:gd name="adj5" fmla="val -94957"/>
              <a:gd name="adj6" fmla="val -43093"/>
              <a:gd name="adj7" fmla="val -313479"/>
              <a:gd name="adj8" fmla="val -85646"/>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a:solidFill>
                  <a:schemeClr val="tx1"/>
                </a:solidFill>
              </a:rPr>
              <a:t>Decides</a:t>
            </a:r>
          </a:p>
        </p:txBody>
      </p:sp>
      <p:sp>
        <p:nvSpPr>
          <p:cNvPr id="7" name="Globo: línea doblada doble 6">
            <a:extLst>
              <a:ext uri="{FF2B5EF4-FFF2-40B4-BE49-F238E27FC236}">
                <a16:creationId xmlns:a16="http://schemas.microsoft.com/office/drawing/2014/main" id="{E793239B-3B32-4ADE-A19A-0A1DCCEE8219}"/>
              </a:ext>
            </a:extLst>
          </p:cNvPr>
          <p:cNvSpPr/>
          <p:nvPr/>
        </p:nvSpPr>
        <p:spPr>
          <a:xfrm>
            <a:off x="7524328" y="1617574"/>
            <a:ext cx="1385312" cy="759133"/>
          </a:xfrm>
          <a:prstGeom prst="borderCallout3">
            <a:avLst>
              <a:gd name="adj1" fmla="val 18750"/>
              <a:gd name="adj2" fmla="val -8333"/>
              <a:gd name="adj3" fmla="val 18750"/>
              <a:gd name="adj4" fmla="val -16667"/>
              <a:gd name="adj5" fmla="val 7094"/>
              <a:gd name="adj6" fmla="val -40343"/>
              <a:gd name="adj7" fmla="val -9000"/>
              <a:gd name="adj8" fmla="val -70061"/>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a:solidFill>
                  <a:schemeClr val="tx1"/>
                </a:solidFill>
              </a:rPr>
              <a:t>Enforces</a:t>
            </a:r>
          </a:p>
        </p:txBody>
      </p:sp>
      <p:sp>
        <p:nvSpPr>
          <p:cNvPr id="8" name="Globo: línea doblada doble 7">
            <a:extLst>
              <a:ext uri="{FF2B5EF4-FFF2-40B4-BE49-F238E27FC236}">
                <a16:creationId xmlns:a16="http://schemas.microsoft.com/office/drawing/2014/main" id="{E592E36E-D230-48B5-9B08-7D7602E872AB}"/>
              </a:ext>
            </a:extLst>
          </p:cNvPr>
          <p:cNvSpPr/>
          <p:nvPr/>
        </p:nvSpPr>
        <p:spPr>
          <a:xfrm>
            <a:off x="7695768" y="3249598"/>
            <a:ext cx="1385312" cy="759133"/>
          </a:xfrm>
          <a:prstGeom prst="borderCallout3">
            <a:avLst>
              <a:gd name="adj1" fmla="val 18750"/>
              <a:gd name="adj2" fmla="val -8333"/>
              <a:gd name="adj3" fmla="val 18750"/>
              <a:gd name="adj4" fmla="val -16667"/>
              <a:gd name="adj5" fmla="val 60629"/>
              <a:gd name="adj6" fmla="val -48594"/>
              <a:gd name="adj7" fmla="val 146585"/>
              <a:gd name="adj8" fmla="val -81062"/>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a:solidFill>
                  <a:schemeClr val="tx1"/>
                </a:solidFill>
              </a:rPr>
              <a:t>Manage policies</a:t>
            </a:r>
          </a:p>
        </p:txBody>
      </p:sp>
    </p:spTree>
    <p:extLst>
      <p:ext uri="{BB962C8B-B14F-4D97-AF65-F5344CB8AC3E}">
        <p14:creationId xmlns:p14="http://schemas.microsoft.com/office/powerpoint/2010/main" val="11781795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0931C8A-77B7-4E4C-AAC9-95F1EE8A6E0E}"/>
              </a:ext>
            </a:extLst>
          </p:cNvPr>
          <p:cNvSpPr>
            <a:spLocks noGrp="1"/>
          </p:cNvSpPr>
          <p:nvPr>
            <p:ph type="title"/>
          </p:nvPr>
        </p:nvSpPr>
        <p:spPr/>
        <p:txBody>
          <a:bodyPr/>
          <a:lstStyle/>
          <a:p>
            <a:r>
              <a:rPr lang="es-ES"/>
              <a:t>XACML Architecture</a:t>
            </a:r>
          </a:p>
        </p:txBody>
      </p:sp>
      <p:sp>
        <p:nvSpPr>
          <p:cNvPr id="3" name="Marcador de contenido 2">
            <a:extLst>
              <a:ext uri="{FF2B5EF4-FFF2-40B4-BE49-F238E27FC236}">
                <a16:creationId xmlns:a16="http://schemas.microsoft.com/office/drawing/2014/main" id="{07E1F0E4-0E72-45D2-9D18-2A22E7B1704E}"/>
              </a:ext>
            </a:extLst>
          </p:cNvPr>
          <p:cNvSpPr>
            <a:spLocks noGrp="1"/>
          </p:cNvSpPr>
          <p:nvPr>
            <p:ph idx="1"/>
          </p:nvPr>
        </p:nvSpPr>
        <p:spPr>
          <a:xfrm>
            <a:off x="18336" y="836712"/>
            <a:ext cx="9125664" cy="5832648"/>
          </a:xfrm>
        </p:spPr>
        <p:txBody>
          <a:bodyPr/>
          <a:lstStyle/>
          <a:p>
            <a:r>
              <a:rPr lang="en-US"/>
              <a:t>Policy Enforcement Point (PEP) : </a:t>
            </a:r>
          </a:p>
          <a:p>
            <a:pPr lvl="1"/>
            <a:r>
              <a:rPr lang="en-US"/>
              <a:t>The system entity that performs access control by making decision requests and enforcing authorization decisions. It sends the XACML request to the Policy Decision Point (PDP).</a:t>
            </a:r>
          </a:p>
          <a:p>
            <a:r>
              <a:rPr lang="en-US"/>
              <a:t>Policy Decision Point (PDP) : </a:t>
            </a:r>
          </a:p>
          <a:p>
            <a:pPr lvl="1"/>
            <a:r>
              <a:rPr lang="en-US"/>
              <a:t>The entity that </a:t>
            </a:r>
            <a:r>
              <a:rPr lang="en-US" b="1">
                <a:solidFill>
                  <a:srgbClr val="C00000"/>
                </a:solidFill>
              </a:rPr>
              <a:t>evaluates an applicable policy</a:t>
            </a:r>
            <a:r>
              <a:rPr lang="en-US"/>
              <a:t> and returns an authorization decision.</a:t>
            </a:r>
          </a:p>
          <a:p>
            <a:r>
              <a:rPr lang="en-US"/>
              <a:t>Policy Information Point (PIP) : </a:t>
            </a:r>
          </a:p>
          <a:p>
            <a:pPr lvl="1"/>
            <a:r>
              <a:rPr lang="en-US"/>
              <a:t>The entity that acts as a source of attribute values. If there are missing attributes in the XACML request that is sent by PEP, PIP would find them for the PDP to evaluate the policy.</a:t>
            </a:r>
          </a:p>
          <a:p>
            <a:r>
              <a:rPr lang="en-US"/>
              <a:t>Policy Administration Point (PAP) : </a:t>
            </a:r>
          </a:p>
          <a:p>
            <a:pPr lvl="1"/>
            <a:r>
              <a:rPr lang="en-US"/>
              <a:t>The entity that creates a policy or policy set and manages them.</a:t>
            </a:r>
            <a:endParaRPr lang="es-ES"/>
          </a:p>
        </p:txBody>
      </p:sp>
      <p:sp>
        <p:nvSpPr>
          <p:cNvPr id="4" name="Marcador de número de diapositiva 3">
            <a:extLst>
              <a:ext uri="{FF2B5EF4-FFF2-40B4-BE49-F238E27FC236}">
                <a16:creationId xmlns:a16="http://schemas.microsoft.com/office/drawing/2014/main" id="{D6406C99-4097-4801-8EA2-FF74C903B703}"/>
              </a:ext>
            </a:extLst>
          </p:cNvPr>
          <p:cNvSpPr>
            <a:spLocks noGrp="1"/>
          </p:cNvSpPr>
          <p:nvPr>
            <p:ph type="sldNum" sz="quarter" idx="12"/>
          </p:nvPr>
        </p:nvSpPr>
        <p:spPr/>
        <p:txBody>
          <a:bodyPr/>
          <a:lstStyle/>
          <a:p>
            <a:fld id="{989033DA-4FB3-4863-BE40-35B8BF45D7BC}" type="slidenum">
              <a:rPr lang="es-ES" smtClean="0"/>
              <a:pPr/>
              <a:t>20</a:t>
            </a:fld>
            <a:endParaRPr lang="es-ES"/>
          </a:p>
        </p:txBody>
      </p:sp>
    </p:spTree>
    <p:extLst>
      <p:ext uri="{BB962C8B-B14F-4D97-AF65-F5344CB8AC3E}">
        <p14:creationId xmlns:p14="http://schemas.microsoft.com/office/powerpoint/2010/main" val="215187844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0998DA-A650-4D3A-9ABC-79E2A894C5A0}"/>
              </a:ext>
            </a:extLst>
          </p:cNvPr>
          <p:cNvSpPr>
            <a:spLocks noGrp="1"/>
          </p:cNvSpPr>
          <p:nvPr>
            <p:ph type="title"/>
          </p:nvPr>
        </p:nvSpPr>
        <p:spPr>
          <a:xfrm>
            <a:off x="0" y="-18750"/>
            <a:ext cx="8460432" cy="495422"/>
          </a:xfrm>
        </p:spPr>
        <p:txBody>
          <a:bodyPr/>
          <a:lstStyle/>
          <a:p>
            <a:r>
              <a:rPr lang="es-ES"/>
              <a:t>Usage scenario</a:t>
            </a:r>
          </a:p>
        </p:txBody>
      </p:sp>
      <p:sp>
        <p:nvSpPr>
          <p:cNvPr id="4" name="Marcador de número de diapositiva 3">
            <a:extLst>
              <a:ext uri="{FF2B5EF4-FFF2-40B4-BE49-F238E27FC236}">
                <a16:creationId xmlns:a16="http://schemas.microsoft.com/office/drawing/2014/main" id="{A15467A8-B658-4B59-9A28-5B2AEFC9402C}"/>
              </a:ext>
            </a:extLst>
          </p:cNvPr>
          <p:cNvSpPr>
            <a:spLocks noGrp="1"/>
          </p:cNvSpPr>
          <p:nvPr>
            <p:ph type="sldNum" sz="quarter" idx="12"/>
          </p:nvPr>
        </p:nvSpPr>
        <p:spPr/>
        <p:txBody>
          <a:bodyPr/>
          <a:lstStyle/>
          <a:p>
            <a:fld id="{989033DA-4FB3-4863-BE40-35B8BF45D7BC}" type="slidenum">
              <a:rPr lang="es-ES" smtClean="0"/>
              <a:pPr/>
              <a:t>21</a:t>
            </a:fld>
            <a:endParaRPr lang="es-ES"/>
          </a:p>
        </p:txBody>
      </p:sp>
      <p:pic>
        <p:nvPicPr>
          <p:cNvPr id="5" name="Picture 4">
            <a:extLst>
              <a:ext uri="{FF2B5EF4-FFF2-40B4-BE49-F238E27FC236}">
                <a16:creationId xmlns:a16="http://schemas.microsoft.com/office/drawing/2014/main" id="{C1436164-5D20-4112-862B-6976D47A8F1A}"/>
              </a:ext>
            </a:extLst>
          </p:cNvPr>
          <p:cNvPicPr>
            <a:picLocks noChangeAspect="1" noChangeArrowheads="1"/>
          </p:cNvPicPr>
          <p:nvPr/>
        </p:nvPicPr>
        <p:blipFill>
          <a:blip r:embed="rId2" cstate="print"/>
          <a:srcRect/>
          <a:stretch>
            <a:fillRect/>
          </a:stretch>
        </p:blipFill>
        <p:spPr bwMode="auto">
          <a:xfrm>
            <a:off x="1259632" y="717225"/>
            <a:ext cx="5904656" cy="6208674"/>
          </a:xfrm>
          <a:prstGeom prst="rect">
            <a:avLst/>
          </a:prstGeom>
          <a:noFill/>
          <a:ln w="9525">
            <a:noFill/>
            <a:miter lim="800000"/>
            <a:headEnd/>
            <a:tailEnd/>
          </a:ln>
          <a:effectLst/>
        </p:spPr>
      </p:pic>
    </p:spTree>
    <p:extLst>
      <p:ext uri="{BB962C8B-B14F-4D97-AF65-F5344CB8AC3E}">
        <p14:creationId xmlns:p14="http://schemas.microsoft.com/office/powerpoint/2010/main" val="400155377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38FD043-66C9-479F-BFEC-F38D87B23CCB}"/>
              </a:ext>
            </a:extLst>
          </p:cNvPr>
          <p:cNvSpPr>
            <a:spLocks noGrp="1"/>
          </p:cNvSpPr>
          <p:nvPr>
            <p:ph type="title"/>
          </p:nvPr>
        </p:nvSpPr>
        <p:spPr/>
        <p:txBody>
          <a:bodyPr/>
          <a:lstStyle/>
          <a:p>
            <a:r>
              <a:rPr lang="es-ES" sz="4000"/>
              <a:t>XACML Policy structure</a:t>
            </a:r>
          </a:p>
        </p:txBody>
      </p:sp>
      <p:sp>
        <p:nvSpPr>
          <p:cNvPr id="4" name="Marcador de número de diapositiva 3">
            <a:extLst>
              <a:ext uri="{FF2B5EF4-FFF2-40B4-BE49-F238E27FC236}">
                <a16:creationId xmlns:a16="http://schemas.microsoft.com/office/drawing/2014/main" id="{1019C949-218C-42B2-848B-2C86964351EB}"/>
              </a:ext>
            </a:extLst>
          </p:cNvPr>
          <p:cNvSpPr>
            <a:spLocks noGrp="1"/>
          </p:cNvSpPr>
          <p:nvPr>
            <p:ph type="sldNum" sz="quarter" idx="12"/>
          </p:nvPr>
        </p:nvSpPr>
        <p:spPr/>
        <p:txBody>
          <a:bodyPr/>
          <a:lstStyle/>
          <a:p>
            <a:fld id="{989033DA-4FB3-4863-BE40-35B8BF45D7BC}" type="slidenum">
              <a:rPr lang="es-ES" smtClean="0"/>
              <a:pPr/>
              <a:t>22</a:t>
            </a:fld>
            <a:endParaRPr lang="es-ES"/>
          </a:p>
        </p:txBody>
      </p:sp>
      <p:pic>
        <p:nvPicPr>
          <p:cNvPr id="5" name="Picture 2">
            <a:extLst>
              <a:ext uri="{FF2B5EF4-FFF2-40B4-BE49-F238E27FC236}">
                <a16:creationId xmlns:a16="http://schemas.microsoft.com/office/drawing/2014/main" id="{1E590A16-5BAB-444F-9343-86F0ADC7C92E}"/>
              </a:ext>
            </a:extLst>
          </p:cNvPr>
          <p:cNvPicPr>
            <a:picLocks noGrp="1" noChangeAspect="1" noChangeArrowheads="1"/>
          </p:cNvPicPr>
          <p:nvPr>
            <p:ph idx="1"/>
          </p:nvPr>
        </p:nvPicPr>
        <p:blipFill>
          <a:blip r:embed="rId2" cstate="print"/>
          <a:srcRect/>
          <a:stretch>
            <a:fillRect/>
          </a:stretch>
        </p:blipFill>
        <p:spPr bwMode="auto">
          <a:xfrm>
            <a:off x="62638" y="869172"/>
            <a:ext cx="8796385" cy="5800187"/>
          </a:xfrm>
          <a:prstGeom prst="rect">
            <a:avLst/>
          </a:prstGeom>
          <a:noFill/>
          <a:ln w="9525">
            <a:noFill/>
            <a:miter lim="800000"/>
            <a:headEnd/>
            <a:tailEnd/>
          </a:ln>
          <a:effectLst/>
        </p:spPr>
      </p:pic>
    </p:spTree>
    <p:extLst>
      <p:ext uri="{BB962C8B-B14F-4D97-AF65-F5344CB8AC3E}">
        <p14:creationId xmlns:p14="http://schemas.microsoft.com/office/powerpoint/2010/main" val="224986195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1566ED-3E0C-42C6-8F57-42EC976E359E}"/>
              </a:ext>
            </a:extLst>
          </p:cNvPr>
          <p:cNvSpPr>
            <a:spLocks noGrp="1"/>
          </p:cNvSpPr>
          <p:nvPr>
            <p:ph type="title"/>
          </p:nvPr>
        </p:nvSpPr>
        <p:spPr/>
        <p:txBody>
          <a:bodyPr/>
          <a:lstStyle/>
          <a:p>
            <a:r>
              <a:rPr lang="es-ES"/>
              <a:t>XACML Policy language model</a:t>
            </a:r>
          </a:p>
        </p:txBody>
      </p:sp>
      <p:sp>
        <p:nvSpPr>
          <p:cNvPr id="4" name="Marcador de número de diapositiva 3">
            <a:extLst>
              <a:ext uri="{FF2B5EF4-FFF2-40B4-BE49-F238E27FC236}">
                <a16:creationId xmlns:a16="http://schemas.microsoft.com/office/drawing/2014/main" id="{237DC605-D6D3-4167-ACA7-95162B0D3202}"/>
              </a:ext>
            </a:extLst>
          </p:cNvPr>
          <p:cNvSpPr>
            <a:spLocks noGrp="1"/>
          </p:cNvSpPr>
          <p:nvPr>
            <p:ph type="sldNum" sz="quarter" idx="12"/>
          </p:nvPr>
        </p:nvSpPr>
        <p:spPr/>
        <p:txBody>
          <a:bodyPr/>
          <a:lstStyle/>
          <a:p>
            <a:fld id="{989033DA-4FB3-4863-BE40-35B8BF45D7BC}" type="slidenum">
              <a:rPr lang="es-ES" smtClean="0"/>
              <a:pPr/>
              <a:t>23</a:t>
            </a:fld>
            <a:endParaRPr lang="es-ES"/>
          </a:p>
        </p:txBody>
      </p:sp>
      <p:pic>
        <p:nvPicPr>
          <p:cNvPr id="5" name="Picture 4">
            <a:extLst>
              <a:ext uri="{FF2B5EF4-FFF2-40B4-BE49-F238E27FC236}">
                <a16:creationId xmlns:a16="http://schemas.microsoft.com/office/drawing/2014/main" id="{99FF22B6-33A6-43CC-86D9-3C71210C8B7B}"/>
              </a:ext>
            </a:extLst>
          </p:cNvPr>
          <p:cNvPicPr>
            <a:picLocks noChangeAspect="1" noChangeArrowheads="1"/>
          </p:cNvPicPr>
          <p:nvPr/>
        </p:nvPicPr>
        <p:blipFill>
          <a:blip r:embed="rId2" cstate="print"/>
          <a:srcRect/>
          <a:stretch>
            <a:fillRect/>
          </a:stretch>
        </p:blipFill>
        <p:spPr bwMode="auto">
          <a:xfrm>
            <a:off x="431540" y="899116"/>
            <a:ext cx="8280920" cy="5871129"/>
          </a:xfrm>
          <a:prstGeom prst="rect">
            <a:avLst/>
          </a:prstGeom>
          <a:noFill/>
          <a:ln w="9525">
            <a:noFill/>
            <a:miter lim="800000"/>
            <a:headEnd/>
            <a:tailEnd/>
          </a:ln>
          <a:effectLst/>
        </p:spPr>
      </p:pic>
    </p:spTree>
    <p:extLst>
      <p:ext uri="{BB962C8B-B14F-4D97-AF65-F5344CB8AC3E}">
        <p14:creationId xmlns:p14="http://schemas.microsoft.com/office/powerpoint/2010/main" val="338068162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674C765-E3C7-4071-9AFA-E2E806F172C6}"/>
              </a:ext>
            </a:extLst>
          </p:cNvPr>
          <p:cNvSpPr>
            <a:spLocks noGrp="1"/>
          </p:cNvSpPr>
          <p:nvPr>
            <p:ph type="title"/>
          </p:nvPr>
        </p:nvSpPr>
        <p:spPr>
          <a:xfrm>
            <a:off x="5503253" y="1025339"/>
            <a:ext cx="3605558" cy="1143000"/>
          </a:xfrm>
        </p:spPr>
        <p:txBody>
          <a:bodyPr/>
          <a:lstStyle/>
          <a:p>
            <a:r>
              <a:rPr lang="es-ES"/>
              <a:t>XACML </a:t>
            </a:r>
            <a:br>
              <a:rPr lang="es-ES"/>
            </a:br>
            <a:r>
              <a:rPr lang="es-ES"/>
              <a:t>Request and response</a:t>
            </a:r>
          </a:p>
        </p:txBody>
      </p:sp>
      <p:sp>
        <p:nvSpPr>
          <p:cNvPr id="4" name="Marcador de número de diapositiva 3">
            <a:extLst>
              <a:ext uri="{FF2B5EF4-FFF2-40B4-BE49-F238E27FC236}">
                <a16:creationId xmlns:a16="http://schemas.microsoft.com/office/drawing/2014/main" id="{16CBA381-5F01-42CE-93B6-0C8DFE35BDE9}"/>
              </a:ext>
            </a:extLst>
          </p:cNvPr>
          <p:cNvSpPr>
            <a:spLocks noGrp="1"/>
          </p:cNvSpPr>
          <p:nvPr>
            <p:ph type="sldNum" sz="quarter" idx="12"/>
          </p:nvPr>
        </p:nvSpPr>
        <p:spPr/>
        <p:txBody>
          <a:bodyPr/>
          <a:lstStyle/>
          <a:p>
            <a:fld id="{989033DA-4FB3-4863-BE40-35B8BF45D7BC}" type="slidenum">
              <a:rPr lang="es-ES" smtClean="0"/>
              <a:pPr/>
              <a:t>24</a:t>
            </a:fld>
            <a:endParaRPr lang="es-ES"/>
          </a:p>
        </p:txBody>
      </p:sp>
      <p:grpSp>
        <p:nvGrpSpPr>
          <p:cNvPr id="5" name="Group 12">
            <a:extLst>
              <a:ext uri="{FF2B5EF4-FFF2-40B4-BE49-F238E27FC236}">
                <a16:creationId xmlns:a16="http://schemas.microsoft.com/office/drawing/2014/main" id="{D4C5A673-3440-4380-8496-60B9318473D2}"/>
              </a:ext>
            </a:extLst>
          </p:cNvPr>
          <p:cNvGrpSpPr/>
          <p:nvPr/>
        </p:nvGrpSpPr>
        <p:grpSpPr>
          <a:xfrm>
            <a:off x="0" y="101429"/>
            <a:ext cx="5503253" cy="3505201"/>
            <a:chOff x="1447800" y="2819400"/>
            <a:chExt cx="5791200" cy="3581400"/>
          </a:xfrm>
        </p:grpSpPr>
        <p:sp>
          <p:nvSpPr>
            <p:cNvPr id="6" name="Content Placeholder 2">
              <a:extLst>
                <a:ext uri="{FF2B5EF4-FFF2-40B4-BE49-F238E27FC236}">
                  <a16:creationId xmlns:a16="http://schemas.microsoft.com/office/drawing/2014/main" id="{32F7018F-0B66-4B2E-9400-466ECAA956F3}"/>
                </a:ext>
              </a:extLst>
            </p:cNvPr>
            <p:cNvSpPr txBox="1">
              <a:spLocks/>
            </p:cNvSpPr>
            <p:nvPr/>
          </p:nvSpPr>
          <p:spPr>
            <a:xfrm>
              <a:off x="1447800" y="2819400"/>
              <a:ext cx="5791200" cy="3581400"/>
            </a:xfrm>
            <a:prstGeom prst="rect">
              <a:avLst/>
            </a:prstGeom>
            <a:ln w="9525" cap="flat" cmpd="sng" algn="ctr">
              <a:noFill/>
              <a:prstDash val="solid"/>
            </a:ln>
            <a:effectLst>
              <a:outerShdw blurRad="44450" dist="27940" dir="5400000" algn="ctr">
                <a:srgbClr val="000000">
                  <a:alpha val="32000"/>
                </a:srgbClr>
              </a:outerShdw>
              <a:softEdge rad="12700"/>
            </a:effectLst>
            <a:scene3d>
              <a:camera prst="orthographicFront">
                <a:rot lat="0" lon="0" rev="0"/>
              </a:camera>
              <a:lightRig rig="balanced" dir="t">
                <a:rot lat="0" lon="0" rev="8700000"/>
              </a:lightRig>
            </a:scene3d>
            <a:sp3d/>
          </p:spPr>
          <p:style>
            <a:lnRef idx="1">
              <a:schemeClr val="accent1"/>
            </a:lnRef>
            <a:fillRef idx="3">
              <a:schemeClr val="accent1"/>
            </a:fillRef>
            <a:effectRef idx="2">
              <a:schemeClr val="accent1"/>
            </a:effectRef>
            <a:fontRef idx="minor">
              <a:schemeClr val="lt1"/>
            </a:fontRef>
          </p:style>
          <p:txBody>
            <a:bodyPr vert="horz">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274320" marR="0" lvl="0" indent="-274320" algn="ctr" defTabSz="914400" rtl="0" eaLnBrk="1" fontAlgn="auto" latinLnBrk="0" hangingPunct="1">
                <a:lnSpc>
                  <a:spcPct val="100000"/>
                </a:lnSpc>
                <a:spcBef>
                  <a:spcPct val="20000"/>
                </a:spcBef>
                <a:spcAft>
                  <a:spcPts val="0"/>
                </a:spcAft>
                <a:buClr>
                  <a:schemeClr val="accent3"/>
                </a:buClr>
                <a:buSzPct val="95000"/>
                <a:buFont typeface="Wingdings 2"/>
                <a:buNone/>
                <a:tabLst/>
                <a:defRPr/>
              </a:pPr>
              <a:r>
                <a:rPr kumimoji="0" lang="en-US" sz="4400" b="0" i="0" u="none" strike="noStrike" kern="1200" cap="none" spc="0" normalizeH="0" baseline="0" noProof="0">
                  <a:ln>
                    <a:noFill/>
                  </a:ln>
                  <a:solidFill>
                    <a:schemeClr val="lt1"/>
                  </a:solidFill>
                  <a:effectLst/>
                  <a:uLnTx/>
                  <a:uFillTx/>
                  <a:latin typeface="+mn-lt"/>
                  <a:ea typeface="+mn-ea"/>
                  <a:cs typeface="+mn-cs"/>
                </a:rPr>
                <a:t>Request</a:t>
              </a:r>
              <a:endParaRPr kumimoji="0" lang="en-US" sz="4400" b="0" i="0" u="none" strike="noStrike" kern="1200" cap="none" spc="0" normalizeH="0" baseline="0" noProof="0" dirty="0">
                <a:ln>
                  <a:noFill/>
                </a:ln>
                <a:solidFill>
                  <a:schemeClr val="lt1"/>
                </a:solidFill>
                <a:effectLst/>
                <a:uLnTx/>
                <a:uFillTx/>
                <a:latin typeface="+mn-lt"/>
                <a:ea typeface="+mn-ea"/>
                <a:cs typeface="+mn-cs"/>
              </a:endParaRPr>
            </a:p>
          </p:txBody>
        </p:sp>
        <p:sp>
          <p:nvSpPr>
            <p:cNvPr id="7" name="Rounded Rectangle 4">
              <a:extLst>
                <a:ext uri="{FF2B5EF4-FFF2-40B4-BE49-F238E27FC236}">
                  <a16:creationId xmlns:a16="http://schemas.microsoft.com/office/drawing/2014/main" id="{9282C6FE-26B7-4848-BA28-067128E82F1C}"/>
                </a:ext>
              </a:extLst>
            </p:cNvPr>
            <p:cNvSpPr/>
            <p:nvPr/>
          </p:nvSpPr>
          <p:spPr>
            <a:xfrm>
              <a:off x="1981200" y="3733800"/>
              <a:ext cx="1143000" cy="2286000"/>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8" name="TextBox 5">
              <a:extLst>
                <a:ext uri="{FF2B5EF4-FFF2-40B4-BE49-F238E27FC236}">
                  <a16:creationId xmlns:a16="http://schemas.microsoft.com/office/drawing/2014/main" id="{4918CC71-9E32-4B26-88DA-2C6B8B345B3D}"/>
                </a:ext>
              </a:extLst>
            </p:cNvPr>
            <p:cNvSpPr txBox="1"/>
            <p:nvPr/>
          </p:nvSpPr>
          <p:spPr>
            <a:xfrm>
              <a:off x="1981200" y="4459069"/>
              <a:ext cx="1219200" cy="646331"/>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Subject</a:t>
              </a:r>
            </a:p>
            <a:p>
              <a:r>
                <a:rPr lang="en-US" dirty="0"/>
                <a:t>Attributes</a:t>
              </a:r>
            </a:p>
          </p:txBody>
        </p:sp>
        <p:sp>
          <p:nvSpPr>
            <p:cNvPr id="9" name="Rounded Rectangle 6">
              <a:extLst>
                <a:ext uri="{FF2B5EF4-FFF2-40B4-BE49-F238E27FC236}">
                  <a16:creationId xmlns:a16="http://schemas.microsoft.com/office/drawing/2014/main" id="{D66B72DB-EBD8-43AB-B82F-2947A726662A}"/>
                </a:ext>
              </a:extLst>
            </p:cNvPr>
            <p:cNvSpPr/>
            <p:nvPr/>
          </p:nvSpPr>
          <p:spPr>
            <a:xfrm>
              <a:off x="4419600" y="3733800"/>
              <a:ext cx="1143000" cy="2286000"/>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0" name="TextBox 7">
              <a:extLst>
                <a:ext uri="{FF2B5EF4-FFF2-40B4-BE49-F238E27FC236}">
                  <a16:creationId xmlns:a16="http://schemas.microsoft.com/office/drawing/2014/main" id="{B6854C09-DAD7-4835-9819-D1A597746B56}"/>
                </a:ext>
              </a:extLst>
            </p:cNvPr>
            <p:cNvSpPr txBox="1"/>
            <p:nvPr/>
          </p:nvSpPr>
          <p:spPr>
            <a:xfrm>
              <a:off x="4419600" y="4459069"/>
              <a:ext cx="1219200" cy="646331"/>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Action</a:t>
              </a:r>
            </a:p>
            <a:p>
              <a:r>
                <a:rPr lang="en-US" dirty="0"/>
                <a:t>Attributes</a:t>
              </a:r>
            </a:p>
          </p:txBody>
        </p:sp>
        <p:sp>
          <p:nvSpPr>
            <p:cNvPr id="11" name="Rounded Rectangle 8">
              <a:extLst>
                <a:ext uri="{FF2B5EF4-FFF2-40B4-BE49-F238E27FC236}">
                  <a16:creationId xmlns:a16="http://schemas.microsoft.com/office/drawing/2014/main" id="{50F15AF0-9B60-47CB-8CF2-40AA5C3560A5}"/>
                </a:ext>
              </a:extLst>
            </p:cNvPr>
            <p:cNvSpPr/>
            <p:nvPr/>
          </p:nvSpPr>
          <p:spPr>
            <a:xfrm>
              <a:off x="5638800" y="3733800"/>
              <a:ext cx="1143000" cy="2286000"/>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2" name="TextBox 9">
              <a:extLst>
                <a:ext uri="{FF2B5EF4-FFF2-40B4-BE49-F238E27FC236}">
                  <a16:creationId xmlns:a16="http://schemas.microsoft.com/office/drawing/2014/main" id="{D8F8B5F2-ADD7-40FF-82B6-89C596F0A66D}"/>
                </a:ext>
              </a:extLst>
            </p:cNvPr>
            <p:cNvSpPr txBox="1"/>
            <p:nvPr/>
          </p:nvSpPr>
          <p:spPr>
            <a:xfrm>
              <a:off x="5562600" y="4495800"/>
              <a:ext cx="1295400" cy="553998"/>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500" dirty="0"/>
                <a:t>Environment</a:t>
              </a:r>
            </a:p>
            <a:p>
              <a:r>
                <a:rPr lang="en-US" sz="1500" dirty="0"/>
                <a:t>Attributes</a:t>
              </a:r>
            </a:p>
          </p:txBody>
        </p:sp>
        <p:sp>
          <p:nvSpPr>
            <p:cNvPr id="13" name="Rounded Rectangle 10">
              <a:extLst>
                <a:ext uri="{FF2B5EF4-FFF2-40B4-BE49-F238E27FC236}">
                  <a16:creationId xmlns:a16="http://schemas.microsoft.com/office/drawing/2014/main" id="{69EE9C18-BD71-4488-9E8D-1C679A888CCC}"/>
                </a:ext>
              </a:extLst>
            </p:cNvPr>
            <p:cNvSpPr/>
            <p:nvPr/>
          </p:nvSpPr>
          <p:spPr>
            <a:xfrm>
              <a:off x="3200400" y="3733800"/>
              <a:ext cx="1143000" cy="2286000"/>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dirty="0"/>
            </a:p>
          </p:txBody>
        </p:sp>
        <p:sp>
          <p:nvSpPr>
            <p:cNvPr id="14" name="TextBox 11">
              <a:extLst>
                <a:ext uri="{FF2B5EF4-FFF2-40B4-BE49-F238E27FC236}">
                  <a16:creationId xmlns:a16="http://schemas.microsoft.com/office/drawing/2014/main" id="{5F3DCC52-C1A0-43D0-AFD4-18EA201EAC9D}"/>
                </a:ext>
              </a:extLst>
            </p:cNvPr>
            <p:cNvSpPr txBox="1"/>
            <p:nvPr/>
          </p:nvSpPr>
          <p:spPr>
            <a:xfrm>
              <a:off x="3200400" y="4459069"/>
              <a:ext cx="1219200" cy="646331"/>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Resource</a:t>
              </a:r>
            </a:p>
            <a:p>
              <a:r>
                <a:rPr lang="en-US" dirty="0"/>
                <a:t>Attributes</a:t>
              </a:r>
            </a:p>
          </p:txBody>
        </p:sp>
      </p:grpSp>
      <p:grpSp>
        <p:nvGrpSpPr>
          <p:cNvPr id="15" name="Group 13">
            <a:extLst>
              <a:ext uri="{FF2B5EF4-FFF2-40B4-BE49-F238E27FC236}">
                <a16:creationId xmlns:a16="http://schemas.microsoft.com/office/drawing/2014/main" id="{3E71E2EB-8502-4A52-BBF0-BD36E79CD301}"/>
              </a:ext>
            </a:extLst>
          </p:cNvPr>
          <p:cNvGrpSpPr/>
          <p:nvPr/>
        </p:nvGrpSpPr>
        <p:grpSpPr>
          <a:xfrm>
            <a:off x="16853" y="3484831"/>
            <a:ext cx="5486400" cy="3505200"/>
            <a:chOff x="1447800" y="2656609"/>
            <a:chExt cx="5486400" cy="3744191"/>
          </a:xfrm>
        </p:grpSpPr>
        <p:sp>
          <p:nvSpPr>
            <p:cNvPr id="16" name="Content Placeholder 2">
              <a:extLst>
                <a:ext uri="{FF2B5EF4-FFF2-40B4-BE49-F238E27FC236}">
                  <a16:creationId xmlns:a16="http://schemas.microsoft.com/office/drawing/2014/main" id="{DB1BEB92-754F-4A7C-86FD-E649848EEC37}"/>
                </a:ext>
              </a:extLst>
            </p:cNvPr>
            <p:cNvSpPr txBox="1">
              <a:spLocks/>
            </p:cNvSpPr>
            <p:nvPr/>
          </p:nvSpPr>
          <p:spPr>
            <a:xfrm>
              <a:off x="1447800" y="2656609"/>
              <a:ext cx="5486400" cy="3744191"/>
            </a:xfrm>
            <a:prstGeom prst="rect">
              <a:avLst/>
            </a:prstGeom>
            <a:ln w="9525" cap="flat" cmpd="sng" algn="ctr">
              <a:noFill/>
              <a:prstDash val="solid"/>
            </a:ln>
            <a:effectLst>
              <a:outerShdw blurRad="44450" dist="27940" dir="5400000" algn="ctr">
                <a:srgbClr val="000000">
                  <a:alpha val="32000"/>
                </a:srgbClr>
              </a:outerShdw>
              <a:softEdge rad="12700"/>
            </a:effectLst>
            <a:scene3d>
              <a:camera prst="orthographicFront">
                <a:rot lat="0" lon="0" rev="0"/>
              </a:camera>
              <a:lightRig rig="balanced" dir="t">
                <a:rot lat="0" lon="0" rev="8700000"/>
              </a:lightRig>
            </a:scene3d>
            <a:sp3d/>
          </p:spPr>
          <p:style>
            <a:lnRef idx="1">
              <a:schemeClr val="accent1"/>
            </a:lnRef>
            <a:fillRef idx="3">
              <a:schemeClr val="accent1"/>
            </a:fillRef>
            <a:effectRef idx="2">
              <a:schemeClr val="accent1"/>
            </a:effectRef>
            <a:fontRef idx="minor">
              <a:schemeClr val="lt1"/>
            </a:fontRef>
          </p:style>
          <p:txBody>
            <a:bodyPr vert="horz">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274320" marR="0" lvl="0" indent="-274320" algn="ctr" defTabSz="914400" rtl="0" eaLnBrk="1" fontAlgn="auto" latinLnBrk="0" hangingPunct="1">
                <a:lnSpc>
                  <a:spcPct val="100000"/>
                </a:lnSpc>
                <a:spcBef>
                  <a:spcPct val="20000"/>
                </a:spcBef>
                <a:spcAft>
                  <a:spcPts val="0"/>
                </a:spcAft>
                <a:buClr>
                  <a:schemeClr val="accent3"/>
                </a:buClr>
                <a:buSzPct val="95000"/>
                <a:buFont typeface="Wingdings 2"/>
                <a:buNone/>
                <a:tabLst/>
                <a:defRPr/>
              </a:pPr>
              <a:r>
                <a:rPr lang="en-US" sz="4400" dirty="0"/>
                <a:t>Response</a:t>
              </a:r>
              <a:endParaRPr kumimoji="0" lang="en-US" sz="4400" b="0" i="0" u="none" strike="noStrike" kern="1200" cap="none" spc="0" normalizeH="0" baseline="0" noProof="0" dirty="0">
                <a:ln>
                  <a:noFill/>
                </a:ln>
                <a:solidFill>
                  <a:schemeClr val="lt1"/>
                </a:solidFill>
                <a:effectLst/>
                <a:uLnTx/>
                <a:uFillTx/>
                <a:latin typeface="+mn-lt"/>
                <a:ea typeface="+mn-ea"/>
                <a:cs typeface="+mn-cs"/>
              </a:endParaRPr>
            </a:p>
          </p:txBody>
        </p:sp>
        <p:sp>
          <p:nvSpPr>
            <p:cNvPr id="17" name="Rounded Rectangle 15">
              <a:extLst>
                <a:ext uri="{FF2B5EF4-FFF2-40B4-BE49-F238E27FC236}">
                  <a16:creationId xmlns:a16="http://schemas.microsoft.com/office/drawing/2014/main" id="{18F11BEF-BC1E-4C59-81AA-ED383F6CE912}"/>
                </a:ext>
              </a:extLst>
            </p:cNvPr>
            <p:cNvSpPr/>
            <p:nvPr/>
          </p:nvSpPr>
          <p:spPr>
            <a:xfrm>
              <a:off x="1981200" y="3657600"/>
              <a:ext cx="1371600" cy="2286000"/>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8" name="TextBox 16">
              <a:extLst>
                <a:ext uri="{FF2B5EF4-FFF2-40B4-BE49-F238E27FC236}">
                  <a16:creationId xmlns:a16="http://schemas.microsoft.com/office/drawing/2014/main" id="{6A91EEBE-9737-442F-B950-7E1EEB94F908}"/>
                </a:ext>
              </a:extLst>
            </p:cNvPr>
            <p:cNvSpPr txBox="1"/>
            <p:nvPr/>
          </p:nvSpPr>
          <p:spPr>
            <a:xfrm>
              <a:off x="1981200" y="4459069"/>
              <a:ext cx="1295400" cy="369332"/>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dirty="0"/>
                <a:t>Decision</a:t>
              </a:r>
            </a:p>
          </p:txBody>
        </p:sp>
        <p:sp>
          <p:nvSpPr>
            <p:cNvPr id="19" name="Rounded Rectangle 19">
              <a:extLst>
                <a:ext uri="{FF2B5EF4-FFF2-40B4-BE49-F238E27FC236}">
                  <a16:creationId xmlns:a16="http://schemas.microsoft.com/office/drawing/2014/main" id="{98670002-1580-493C-A92F-F1C8BE60A088}"/>
                </a:ext>
              </a:extLst>
            </p:cNvPr>
            <p:cNvSpPr/>
            <p:nvPr/>
          </p:nvSpPr>
          <p:spPr>
            <a:xfrm>
              <a:off x="4876800" y="3657600"/>
              <a:ext cx="1447800" cy="2286000"/>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0" name="TextBox 20">
              <a:extLst>
                <a:ext uri="{FF2B5EF4-FFF2-40B4-BE49-F238E27FC236}">
                  <a16:creationId xmlns:a16="http://schemas.microsoft.com/office/drawing/2014/main" id="{C1119B55-D7C8-4AE2-823D-C79708B8946E}"/>
                </a:ext>
              </a:extLst>
            </p:cNvPr>
            <p:cNvSpPr txBox="1"/>
            <p:nvPr/>
          </p:nvSpPr>
          <p:spPr>
            <a:xfrm>
              <a:off x="4876800" y="4419600"/>
              <a:ext cx="1371600" cy="369332"/>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dirty="0"/>
                <a:t>Obligations</a:t>
              </a:r>
            </a:p>
          </p:txBody>
        </p:sp>
        <p:sp>
          <p:nvSpPr>
            <p:cNvPr id="21" name="Rounded Rectangle 21">
              <a:extLst>
                <a:ext uri="{FF2B5EF4-FFF2-40B4-BE49-F238E27FC236}">
                  <a16:creationId xmlns:a16="http://schemas.microsoft.com/office/drawing/2014/main" id="{EF93F58F-C298-46C8-BF1B-E8E6F195D6A0}"/>
                </a:ext>
              </a:extLst>
            </p:cNvPr>
            <p:cNvSpPr/>
            <p:nvPr/>
          </p:nvSpPr>
          <p:spPr>
            <a:xfrm>
              <a:off x="3429000" y="3657600"/>
              <a:ext cx="1371600" cy="2286000"/>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dirty="0"/>
            </a:p>
          </p:txBody>
        </p:sp>
        <p:sp>
          <p:nvSpPr>
            <p:cNvPr id="22" name="TextBox 22">
              <a:extLst>
                <a:ext uri="{FF2B5EF4-FFF2-40B4-BE49-F238E27FC236}">
                  <a16:creationId xmlns:a16="http://schemas.microsoft.com/office/drawing/2014/main" id="{9DECDD9A-0262-40C6-90EC-F7B8CBED429B}"/>
                </a:ext>
              </a:extLst>
            </p:cNvPr>
            <p:cNvSpPr txBox="1"/>
            <p:nvPr/>
          </p:nvSpPr>
          <p:spPr>
            <a:xfrm>
              <a:off x="3505200" y="4419600"/>
              <a:ext cx="1219200" cy="369332"/>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dirty="0"/>
                <a:t>Status</a:t>
              </a:r>
            </a:p>
          </p:txBody>
        </p:sp>
      </p:grpSp>
    </p:spTree>
    <p:extLst>
      <p:ext uri="{BB962C8B-B14F-4D97-AF65-F5344CB8AC3E}">
        <p14:creationId xmlns:p14="http://schemas.microsoft.com/office/powerpoint/2010/main" val="370557523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AE0B6BC-FC8A-402C-B098-34E3182AC60F}"/>
              </a:ext>
            </a:extLst>
          </p:cNvPr>
          <p:cNvSpPr>
            <a:spLocks noGrp="1"/>
          </p:cNvSpPr>
          <p:nvPr>
            <p:ph type="title"/>
          </p:nvPr>
        </p:nvSpPr>
        <p:spPr/>
        <p:txBody>
          <a:bodyPr/>
          <a:lstStyle/>
          <a:p>
            <a:r>
              <a:rPr lang="es-ES" sz="4000"/>
              <a:t>Combining algorithms</a:t>
            </a:r>
          </a:p>
        </p:txBody>
      </p:sp>
      <p:sp>
        <p:nvSpPr>
          <p:cNvPr id="3" name="Marcador de contenido 2">
            <a:extLst>
              <a:ext uri="{FF2B5EF4-FFF2-40B4-BE49-F238E27FC236}">
                <a16:creationId xmlns:a16="http://schemas.microsoft.com/office/drawing/2014/main" id="{A3D3E44E-5E23-48D5-945F-B62D51EED268}"/>
              </a:ext>
            </a:extLst>
          </p:cNvPr>
          <p:cNvSpPr>
            <a:spLocks noGrp="1"/>
          </p:cNvSpPr>
          <p:nvPr>
            <p:ph idx="1"/>
          </p:nvPr>
        </p:nvSpPr>
        <p:spPr/>
        <p:txBody>
          <a:bodyPr/>
          <a:lstStyle/>
          <a:p>
            <a:r>
              <a:rPr lang="en-US"/>
              <a:t>Deny-overrides –</a:t>
            </a:r>
          </a:p>
          <a:p>
            <a:pPr lvl="1"/>
            <a:r>
              <a:rPr lang="en-US"/>
              <a:t>if any evaluation returns Deny, then the result must be Deny. </a:t>
            </a:r>
          </a:p>
          <a:p>
            <a:pPr lvl="1"/>
            <a:r>
              <a:rPr lang="en-US"/>
              <a:t>If all rules evaluate to Permit, then the result is Permit.</a:t>
            </a:r>
          </a:p>
          <a:p>
            <a:r>
              <a:rPr lang="en-US"/>
              <a:t>Permit-overrides – </a:t>
            </a:r>
          </a:p>
          <a:p>
            <a:pPr lvl="1"/>
            <a:r>
              <a:rPr lang="en-US"/>
              <a:t>if any rule evaluates to Permit, then the result of is Permit. </a:t>
            </a:r>
          </a:p>
          <a:p>
            <a:pPr lvl="1"/>
            <a:r>
              <a:rPr lang="en-US"/>
              <a:t>If any rule evaluates to Deny and all other rules evaluate to NotApplicable, then the result is Deny. </a:t>
            </a:r>
          </a:p>
          <a:p>
            <a:pPr lvl="1"/>
            <a:r>
              <a:rPr lang="en-US"/>
              <a:t>If all rules are found to be NotApplicable, then the result is NotApplicable.</a:t>
            </a:r>
          </a:p>
          <a:p>
            <a:endParaRPr lang="es-ES"/>
          </a:p>
        </p:txBody>
      </p:sp>
      <p:sp>
        <p:nvSpPr>
          <p:cNvPr id="4" name="Marcador de número de diapositiva 3">
            <a:extLst>
              <a:ext uri="{FF2B5EF4-FFF2-40B4-BE49-F238E27FC236}">
                <a16:creationId xmlns:a16="http://schemas.microsoft.com/office/drawing/2014/main" id="{3F9A5953-6FD4-4F97-9C8E-FCF58FE93F7F}"/>
              </a:ext>
            </a:extLst>
          </p:cNvPr>
          <p:cNvSpPr>
            <a:spLocks noGrp="1"/>
          </p:cNvSpPr>
          <p:nvPr>
            <p:ph type="sldNum" sz="quarter" idx="12"/>
          </p:nvPr>
        </p:nvSpPr>
        <p:spPr/>
        <p:txBody>
          <a:bodyPr/>
          <a:lstStyle/>
          <a:p>
            <a:fld id="{989033DA-4FB3-4863-BE40-35B8BF45D7BC}" type="slidenum">
              <a:rPr lang="es-ES" smtClean="0"/>
              <a:pPr/>
              <a:t>25</a:t>
            </a:fld>
            <a:endParaRPr lang="es-ES"/>
          </a:p>
        </p:txBody>
      </p:sp>
    </p:spTree>
    <p:extLst>
      <p:ext uri="{BB962C8B-B14F-4D97-AF65-F5344CB8AC3E}">
        <p14:creationId xmlns:p14="http://schemas.microsoft.com/office/powerpoint/2010/main" val="36580262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806492F-DE2A-4E5B-984D-919F5FEF1EE9}"/>
              </a:ext>
            </a:extLst>
          </p:cNvPr>
          <p:cNvSpPr>
            <a:spLocks noGrp="1"/>
          </p:cNvSpPr>
          <p:nvPr>
            <p:ph type="title"/>
          </p:nvPr>
        </p:nvSpPr>
        <p:spPr/>
        <p:txBody>
          <a:bodyPr/>
          <a:lstStyle/>
          <a:p>
            <a:r>
              <a:rPr lang="es-ES"/>
              <a:t>Test Sun's XACML implementation</a:t>
            </a:r>
          </a:p>
        </p:txBody>
      </p:sp>
      <p:sp>
        <p:nvSpPr>
          <p:cNvPr id="3" name="Marcador de contenido 2">
            <a:extLst>
              <a:ext uri="{FF2B5EF4-FFF2-40B4-BE49-F238E27FC236}">
                <a16:creationId xmlns:a16="http://schemas.microsoft.com/office/drawing/2014/main" id="{372185C8-9300-4C93-8982-49076C35B065}"/>
              </a:ext>
            </a:extLst>
          </p:cNvPr>
          <p:cNvSpPr>
            <a:spLocks noGrp="1"/>
          </p:cNvSpPr>
          <p:nvPr>
            <p:ph idx="1"/>
          </p:nvPr>
        </p:nvSpPr>
        <p:spPr/>
        <p:txBody>
          <a:bodyPr>
            <a:normAutofit/>
          </a:bodyPr>
          <a:lstStyle/>
          <a:p>
            <a:r>
              <a:rPr lang="es-ES" sz="2800"/>
              <a:t>Make a test!</a:t>
            </a:r>
          </a:p>
          <a:p>
            <a:pPr marL="457200" lvl="1" indent="0">
              <a:buNone/>
            </a:pPr>
            <a:endParaRPr lang="es-ES" sz="1600">
              <a:latin typeface="Consolas" panose="020B0609020204030204" pitchFamily="49" charset="0"/>
            </a:endParaRPr>
          </a:p>
          <a:p>
            <a:pPr marL="457200" lvl="1" indent="0">
              <a:buNone/>
            </a:pPr>
            <a:endParaRPr lang="es-ES" sz="1600">
              <a:latin typeface="Consolas" panose="020B0609020204030204" pitchFamily="49" charset="0"/>
            </a:endParaRPr>
          </a:p>
          <a:p>
            <a:pPr marL="457200" lvl="1" indent="0">
              <a:buNone/>
            </a:pPr>
            <a:endParaRPr lang="es-ES" sz="1600">
              <a:latin typeface="Consolas" panose="020B0609020204030204" pitchFamily="49" charset="0"/>
            </a:endParaRPr>
          </a:p>
          <a:p>
            <a:pPr marL="457200" lvl="1" indent="0">
              <a:buNone/>
            </a:pPr>
            <a:endParaRPr lang="es-ES" sz="1600">
              <a:latin typeface="Consolas" panose="020B0609020204030204" pitchFamily="49" charset="0"/>
            </a:endParaRPr>
          </a:p>
          <a:p>
            <a:pPr marL="457200" lvl="1" indent="0">
              <a:buNone/>
            </a:pPr>
            <a:endParaRPr lang="es-ES" sz="1600">
              <a:latin typeface="Consolas" panose="020B0609020204030204" pitchFamily="49" charset="0"/>
            </a:endParaRPr>
          </a:p>
          <a:p>
            <a:pPr marL="457200" lvl="1" indent="0">
              <a:buNone/>
            </a:pPr>
            <a:endParaRPr lang="es-ES" sz="1600">
              <a:latin typeface="Consolas" panose="020B0609020204030204" pitchFamily="49" charset="0"/>
            </a:endParaRPr>
          </a:p>
          <a:p>
            <a:pPr marL="457200" lvl="1" indent="0">
              <a:buNone/>
            </a:pPr>
            <a:endParaRPr lang="es-ES" sz="1600">
              <a:latin typeface="Consolas" panose="020B0609020204030204" pitchFamily="49" charset="0"/>
            </a:endParaRPr>
          </a:p>
          <a:p>
            <a:pPr marL="457200" lvl="1" indent="0">
              <a:buNone/>
            </a:pPr>
            <a:endParaRPr lang="es-ES" sz="1600">
              <a:latin typeface="Consolas" panose="020B0609020204030204" pitchFamily="49" charset="0"/>
            </a:endParaRPr>
          </a:p>
          <a:p>
            <a:pPr marL="457200" lvl="1" indent="0">
              <a:buNone/>
            </a:pPr>
            <a:endParaRPr lang="es-ES" sz="1600">
              <a:latin typeface="Consolas" panose="020B0609020204030204" pitchFamily="49" charset="0"/>
            </a:endParaRPr>
          </a:p>
          <a:p>
            <a:pPr marL="457200" lvl="1" indent="0">
              <a:buNone/>
            </a:pPr>
            <a:endParaRPr lang="es-ES" sz="1600">
              <a:latin typeface="Consolas" panose="020B0609020204030204" pitchFamily="49" charset="0"/>
            </a:endParaRPr>
          </a:p>
          <a:p>
            <a:pPr marL="457200" lvl="1" indent="0">
              <a:buNone/>
            </a:pPr>
            <a:endParaRPr lang="es-ES" sz="1600">
              <a:latin typeface="Consolas" panose="020B0609020204030204" pitchFamily="49" charset="0"/>
            </a:endParaRPr>
          </a:p>
          <a:p>
            <a:pPr marL="457200" lvl="1" indent="0">
              <a:buNone/>
            </a:pPr>
            <a:endParaRPr lang="es-ES" sz="1600">
              <a:latin typeface="Consolas" panose="020B0609020204030204" pitchFamily="49" charset="0"/>
            </a:endParaRPr>
          </a:p>
        </p:txBody>
      </p:sp>
      <p:sp>
        <p:nvSpPr>
          <p:cNvPr id="4" name="Marcador de número de diapositiva 3">
            <a:extLst>
              <a:ext uri="{FF2B5EF4-FFF2-40B4-BE49-F238E27FC236}">
                <a16:creationId xmlns:a16="http://schemas.microsoft.com/office/drawing/2014/main" id="{24E6B207-9271-4EF4-B316-3E2A96B662C0}"/>
              </a:ext>
            </a:extLst>
          </p:cNvPr>
          <p:cNvSpPr>
            <a:spLocks noGrp="1"/>
          </p:cNvSpPr>
          <p:nvPr>
            <p:ph type="sldNum" sz="quarter" idx="12"/>
          </p:nvPr>
        </p:nvSpPr>
        <p:spPr/>
        <p:txBody>
          <a:bodyPr/>
          <a:lstStyle/>
          <a:p>
            <a:fld id="{989033DA-4FB3-4863-BE40-35B8BF45D7BC}" type="slidenum">
              <a:rPr lang="es-ES" smtClean="0"/>
              <a:pPr/>
              <a:t>26</a:t>
            </a:fld>
            <a:endParaRPr lang="es-ES"/>
          </a:p>
        </p:txBody>
      </p:sp>
      <p:sp>
        <p:nvSpPr>
          <p:cNvPr id="5" name="Rectángulo 4">
            <a:extLst>
              <a:ext uri="{FF2B5EF4-FFF2-40B4-BE49-F238E27FC236}">
                <a16:creationId xmlns:a16="http://schemas.microsoft.com/office/drawing/2014/main" id="{4727F614-2E93-420E-8E20-8BDF7E043989}"/>
              </a:ext>
            </a:extLst>
          </p:cNvPr>
          <p:cNvSpPr/>
          <p:nvPr/>
        </p:nvSpPr>
        <p:spPr>
          <a:xfrm>
            <a:off x="107504" y="2276872"/>
            <a:ext cx="8712968" cy="1944216"/>
          </a:xfrm>
          <a:prstGeom prst="rect">
            <a:avLst/>
          </a:prstGeom>
          <a:solidFill>
            <a:schemeClr val="tx1">
              <a:lumMod val="75000"/>
              <a:lumOff val="2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pt-BR" sz="1600">
                <a:latin typeface="Consolas" panose="020B0609020204030204" pitchFamily="49" charset="0"/>
              </a:rPr>
              <a:t>01 curl -L "curl -L "https://sourceforge.net/projects/sunxacml/files/sunxacml/Version%201.2/sunxacml-1.2.zip/download" -o sunxacml.zip"</a:t>
            </a:r>
          </a:p>
          <a:p>
            <a:r>
              <a:rPr lang="pt-BR" sz="1600">
                <a:latin typeface="Consolas" panose="020B0609020204030204" pitchFamily="49" charset="0"/>
              </a:rPr>
              <a:t>02 tar -xf sunxacml.zip</a:t>
            </a:r>
          </a:p>
          <a:p>
            <a:r>
              <a:rPr lang="pt-BR" sz="1600">
                <a:latin typeface="Consolas" panose="020B0609020204030204" pitchFamily="49" charset="0"/>
              </a:rPr>
              <a:t>03 cd sunxacml-1.2</a:t>
            </a:r>
          </a:p>
          <a:p>
            <a:r>
              <a:rPr lang="pt-BR" sz="1600">
                <a:latin typeface="Consolas" panose="020B0609020204030204" pitchFamily="49" charset="0"/>
              </a:rPr>
              <a:t>04 java -cp "lib/sunxacml.jar;lib/samples.jar" SimplePDP sample/request/door-access.xml sample/policy/time-range.xml</a:t>
            </a:r>
          </a:p>
          <a:p>
            <a:endParaRPr lang="pt-BR" sz="1600">
              <a:latin typeface="Consolas" panose="020B0609020204030204" pitchFamily="49" charset="0"/>
            </a:endParaRPr>
          </a:p>
          <a:p>
            <a:endParaRPr lang="es-ES" sz="1600">
              <a:latin typeface="Consolas" panose="020B0609020204030204" pitchFamily="49" charset="0"/>
            </a:endParaRPr>
          </a:p>
        </p:txBody>
      </p:sp>
    </p:spTree>
    <p:extLst>
      <p:ext uri="{BB962C8B-B14F-4D97-AF65-F5344CB8AC3E}">
        <p14:creationId xmlns:p14="http://schemas.microsoft.com/office/powerpoint/2010/main" val="153653559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5A5654D-2161-4E5E-9537-7A13855F3733}"/>
              </a:ext>
            </a:extLst>
          </p:cNvPr>
          <p:cNvSpPr>
            <a:spLocks noGrp="1"/>
          </p:cNvSpPr>
          <p:nvPr>
            <p:ph type="title"/>
          </p:nvPr>
        </p:nvSpPr>
        <p:spPr>
          <a:xfrm>
            <a:off x="611560" y="274638"/>
            <a:ext cx="7344816" cy="554518"/>
          </a:xfrm>
        </p:spPr>
        <p:txBody>
          <a:bodyPr/>
          <a:lstStyle/>
          <a:p>
            <a:r>
              <a:rPr lang="es-ES"/>
              <a:t>request-door.xml</a:t>
            </a:r>
          </a:p>
        </p:txBody>
      </p:sp>
      <p:sp>
        <p:nvSpPr>
          <p:cNvPr id="3" name="Marcador de contenido 2">
            <a:extLst>
              <a:ext uri="{FF2B5EF4-FFF2-40B4-BE49-F238E27FC236}">
                <a16:creationId xmlns:a16="http://schemas.microsoft.com/office/drawing/2014/main" id="{B4F07A8B-B481-413D-9814-A8B15A2FE93E}"/>
              </a:ext>
            </a:extLst>
          </p:cNvPr>
          <p:cNvSpPr>
            <a:spLocks noGrp="1"/>
          </p:cNvSpPr>
          <p:nvPr>
            <p:ph idx="1"/>
          </p:nvPr>
        </p:nvSpPr>
        <p:spPr>
          <a:xfrm>
            <a:off x="18336" y="6028845"/>
            <a:ext cx="9125664" cy="712524"/>
          </a:xfrm>
        </p:spPr>
        <p:txBody>
          <a:bodyPr>
            <a:normAutofit/>
          </a:bodyPr>
          <a:lstStyle/>
          <a:p>
            <a:pPr marL="0" indent="0">
              <a:buNone/>
            </a:pPr>
            <a:r>
              <a:rPr lang="en-US" sz="2800"/>
              <a:t>Can the user seth@users.example.com open the main-door?"</a:t>
            </a:r>
            <a:endParaRPr lang="es-ES" sz="2800"/>
          </a:p>
        </p:txBody>
      </p:sp>
      <p:sp>
        <p:nvSpPr>
          <p:cNvPr id="4" name="Marcador de número de diapositiva 3">
            <a:extLst>
              <a:ext uri="{FF2B5EF4-FFF2-40B4-BE49-F238E27FC236}">
                <a16:creationId xmlns:a16="http://schemas.microsoft.com/office/drawing/2014/main" id="{01E6A8C6-0E54-4D59-9501-7A76CE90CACA}"/>
              </a:ext>
            </a:extLst>
          </p:cNvPr>
          <p:cNvSpPr>
            <a:spLocks noGrp="1"/>
          </p:cNvSpPr>
          <p:nvPr>
            <p:ph type="sldNum" sz="quarter" idx="12"/>
          </p:nvPr>
        </p:nvSpPr>
        <p:spPr/>
        <p:txBody>
          <a:bodyPr/>
          <a:lstStyle/>
          <a:p>
            <a:fld id="{989033DA-4FB3-4863-BE40-35B8BF45D7BC}" type="slidenum">
              <a:rPr lang="es-ES" smtClean="0"/>
              <a:pPr/>
              <a:t>27</a:t>
            </a:fld>
            <a:endParaRPr lang="es-ES"/>
          </a:p>
        </p:txBody>
      </p:sp>
      <p:sp>
        <p:nvSpPr>
          <p:cNvPr id="5" name="Rectángulo 4">
            <a:extLst>
              <a:ext uri="{FF2B5EF4-FFF2-40B4-BE49-F238E27FC236}">
                <a16:creationId xmlns:a16="http://schemas.microsoft.com/office/drawing/2014/main" id="{33AD30F1-AAC0-4063-819A-0590E1DA9826}"/>
              </a:ext>
            </a:extLst>
          </p:cNvPr>
          <p:cNvSpPr/>
          <p:nvPr/>
        </p:nvSpPr>
        <p:spPr>
          <a:xfrm>
            <a:off x="252378" y="1012954"/>
            <a:ext cx="8639244" cy="4832092"/>
          </a:xfrm>
          <a:prstGeom prst="rect">
            <a:avLst/>
          </a:prstGeom>
          <a:solidFill>
            <a:schemeClr val="accent4">
              <a:lumMod val="20000"/>
              <a:lumOff val="80000"/>
            </a:schemeClr>
          </a:solidFill>
          <a:ln w="38100">
            <a:solidFill>
              <a:schemeClr val="tx1">
                <a:lumMod val="65000"/>
                <a:lumOff val="35000"/>
              </a:schemeClr>
            </a:solidFill>
          </a:ln>
        </p:spPr>
        <p:txBody>
          <a:bodyPr wrap="square">
            <a:spAutoFit/>
          </a:bodyPr>
          <a:lstStyle/>
          <a:p>
            <a:r>
              <a:rPr lang="en-US" sz="1400">
                <a:latin typeface="Consolas" panose="020B0609020204030204" pitchFamily="49" charset="0"/>
              </a:rPr>
              <a:t>&lt;?xml version="1.0" encoding="UTF-8"?&gt;</a:t>
            </a:r>
          </a:p>
          <a:p>
            <a:r>
              <a:rPr lang="en-US" sz="1400">
                <a:latin typeface="Consolas" panose="020B0609020204030204" pitchFamily="49" charset="0"/>
              </a:rPr>
              <a:t>&lt;Request xmlns="urn:oasis:names:tc:xacml:1.0:context"</a:t>
            </a:r>
          </a:p>
          <a:p>
            <a:r>
              <a:rPr lang="en-US" sz="1400">
                <a:latin typeface="Consolas" panose="020B0609020204030204" pitchFamily="49" charset="0"/>
              </a:rPr>
              <a:t>         xmlns:xsi="http://www.w3.org/2001/XMLSchema-instance"&gt;</a:t>
            </a:r>
          </a:p>
          <a:p>
            <a:r>
              <a:rPr lang="en-US" sz="1400">
                <a:latin typeface="Consolas" panose="020B0609020204030204" pitchFamily="49" charset="0"/>
              </a:rPr>
              <a:t>  &lt;Subject&gt;</a:t>
            </a:r>
          </a:p>
          <a:p>
            <a:r>
              <a:rPr lang="en-US" sz="1400">
                <a:latin typeface="Consolas" panose="020B0609020204030204" pitchFamily="49" charset="0"/>
              </a:rPr>
              <a:t>    &lt;Attribute AttributeId="urn:oasis:names:tc:xacml:1.0:subject:subject-id"</a:t>
            </a:r>
          </a:p>
          <a:p>
            <a:r>
              <a:rPr lang="en-US" sz="1400">
                <a:latin typeface="Consolas" panose="020B0609020204030204" pitchFamily="49" charset="0"/>
              </a:rPr>
              <a:t>               DataType="urn:oasis:names:tc:xacml:1.0:data-type:rfc822Name"&gt;</a:t>
            </a:r>
          </a:p>
          <a:p>
            <a:r>
              <a:rPr lang="en-US" sz="1400">
                <a:latin typeface="Consolas" panose="020B0609020204030204" pitchFamily="49" charset="0"/>
              </a:rPr>
              <a:t>      &lt;AttributeValue&gt;seth@users.example.com&lt;/AttributeValue&gt;</a:t>
            </a:r>
          </a:p>
          <a:p>
            <a:r>
              <a:rPr lang="en-US" sz="1400">
                <a:latin typeface="Consolas" panose="020B0609020204030204" pitchFamily="49" charset="0"/>
              </a:rPr>
              <a:t>    &lt;/Attribute&gt;</a:t>
            </a:r>
          </a:p>
          <a:p>
            <a:r>
              <a:rPr lang="en-US" sz="1400">
                <a:latin typeface="Consolas" panose="020B0609020204030204" pitchFamily="49" charset="0"/>
              </a:rPr>
              <a:t>  &lt;/Subject&gt;</a:t>
            </a:r>
          </a:p>
          <a:p>
            <a:r>
              <a:rPr lang="en-US" sz="1400">
                <a:latin typeface="Consolas" panose="020B0609020204030204" pitchFamily="49" charset="0"/>
              </a:rPr>
              <a:t>  &lt;Resource&gt;</a:t>
            </a:r>
          </a:p>
          <a:p>
            <a:r>
              <a:rPr lang="en-US" sz="1400">
                <a:latin typeface="Consolas" panose="020B0609020204030204" pitchFamily="49" charset="0"/>
              </a:rPr>
              <a:t>    &lt;Attribute AttributeId="urn:oasis:names:tc:xacml:1.0:resource:resource-id"</a:t>
            </a:r>
          </a:p>
          <a:p>
            <a:r>
              <a:rPr lang="en-US" sz="1400">
                <a:latin typeface="Consolas" panose="020B0609020204030204" pitchFamily="49" charset="0"/>
              </a:rPr>
              <a:t>               DataType="http://www.w3.org/2001/XMLSchema#string"&gt;</a:t>
            </a:r>
          </a:p>
          <a:p>
            <a:r>
              <a:rPr lang="en-US" sz="1400">
                <a:latin typeface="Consolas" panose="020B0609020204030204" pitchFamily="49" charset="0"/>
              </a:rPr>
              <a:t>      &lt;AttributeValue&gt;main-door&lt;/AttributeValue&gt;</a:t>
            </a:r>
          </a:p>
          <a:p>
            <a:r>
              <a:rPr lang="en-US" sz="1400">
                <a:latin typeface="Consolas" panose="020B0609020204030204" pitchFamily="49" charset="0"/>
              </a:rPr>
              <a:t>    &lt;/Attribute&gt;</a:t>
            </a:r>
          </a:p>
          <a:p>
            <a:r>
              <a:rPr lang="en-US" sz="1400">
                <a:latin typeface="Consolas" panose="020B0609020204030204" pitchFamily="49" charset="0"/>
              </a:rPr>
              <a:t>  &lt;/Resource&gt;</a:t>
            </a:r>
          </a:p>
          <a:p>
            <a:r>
              <a:rPr lang="en-US" sz="1400">
                <a:latin typeface="Consolas" panose="020B0609020204030204" pitchFamily="49" charset="0"/>
              </a:rPr>
              <a:t>  &lt;Action&gt;</a:t>
            </a:r>
          </a:p>
          <a:p>
            <a:r>
              <a:rPr lang="en-US" sz="1400">
                <a:latin typeface="Consolas" panose="020B0609020204030204" pitchFamily="49" charset="0"/>
              </a:rPr>
              <a:t>    &lt;Attribute AttributeId="urn:oasis:names:tc:xacml:1.0:action:action-id"</a:t>
            </a:r>
          </a:p>
          <a:p>
            <a:r>
              <a:rPr lang="en-US" sz="1400">
                <a:latin typeface="Consolas" panose="020B0609020204030204" pitchFamily="49" charset="0"/>
              </a:rPr>
              <a:t>               DataType="http://www.w3.org/2001/XMLSchema#string"&gt;</a:t>
            </a:r>
          </a:p>
          <a:p>
            <a:r>
              <a:rPr lang="en-US" sz="1400">
                <a:latin typeface="Consolas" panose="020B0609020204030204" pitchFamily="49" charset="0"/>
              </a:rPr>
              <a:t>      &lt;AttributeValue&gt;open&lt;/AttributeValue&gt;</a:t>
            </a:r>
          </a:p>
          <a:p>
            <a:r>
              <a:rPr lang="en-US" sz="1400">
                <a:latin typeface="Consolas" panose="020B0609020204030204" pitchFamily="49" charset="0"/>
              </a:rPr>
              <a:t>    &lt;/Attribute&gt;</a:t>
            </a:r>
          </a:p>
          <a:p>
            <a:r>
              <a:rPr lang="en-US" sz="1400">
                <a:latin typeface="Consolas" panose="020B0609020204030204" pitchFamily="49" charset="0"/>
              </a:rPr>
              <a:t>  &lt;/Action&gt;</a:t>
            </a:r>
          </a:p>
          <a:p>
            <a:r>
              <a:rPr lang="en-US" sz="1400">
                <a:latin typeface="Consolas" panose="020B0609020204030204" pitchFamily="49" charset="0"/>
              </a:rPr>
              <a:t>&lt;/Request&gt;</a:t>
            </a:r>
          </a:p>
        </p:txBody>
      </p:sp>
    </p:spTree>
    <p:extLst>
      <p:ext uri="{BB962C8B-B14F-4D97-AF65-F5344CB8AC3E}">
        <p14:creationId xmlns:p14="http://schemas.microsoft.com/office/powerpoint/2010/main" val="8204609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5A5654D-2161-4E5E-9537-7A13855F3733}"/>
              </a:ext>
            </a:extLst>
          </p:cNvPr>
          <p:cNvSpPr>
            <a:spLocks noGrp="1"/>
          </p:cNvSpPr>
          <p:nvPr>
            <p:ph type="title"/>
          </p:nvPr>
        </p:nvSpPr>
        <p:spPr>
          <a:xfrm>
            <a:off x="611560" y="274638"/>
            <a:ext cx="7344816" cy="554518"/>
          </a:xfrm>
        </p:spPr>
        <p:txBody>
          <a:bodyPr/>
          <a:lstStyle/>
          <a:p>
            <a:r>
              <a:rPr lang="es-ES"/>
              <a:t>policy.xml</a:t>
            </a:r>
          </a:p>
        </p:txBody>
      </p:sp>
      <p:sp>
        <p:nvSpPr>
          <p:cNvPr id="3" name="Marcador de contenido 2">
            <a:extLst>
              <a:ext uri="{FF2B5EF4-FFF2-40B4-BE49-F238E27FC236}">
                <a16:creationId xmlns:a16="http://schemas.microsoft.com/office/drawing/2014/main" id="{B4F07A8B-B481-413D-9814-A8B15A2FE93E}"/>
              </a:ext>
            </a:extLst>
          </p:cNvPr>
          <p:cNvSpPr>
            <a:spLocks noGrp="1"/>
          </p:cNvSpPr>
          <p:nvPr>
            <p:ph idx="1"/>
          </p:nvPr>
        </p:nvSpPr>
        <p:spPr>
          <a:xfrm>
            <a:off x="4283968" y="1356781"/>
            <a:ext cx="4932040" cy="4536505"/>
          </a:xfrm>
        </p:spPr>
        <p:txBody>
          <a:bodyPr>
            <a:normAutofit/>
          </a:bodyPr>
          <a:lstStyle/>
          <a:p>
            <a:pPr marL="0" indent="0">
              <a:buNone/>
            </a:pPr>
            <a:r>
              <a:rPr lang="en-US" sz="2800"/>
              <a:t>Between 9am and 5pm local time, allow anyone to open the main door. All other times, only allow authorized people (ie, those with an email address @[users.example.com](http://users.example.com)). Deny in all other cases.</a:t>
            </a:r>
            <a:endParaRPr lang="es-ES" sz="2800"/>
          </a:p>
        </p:txBody>
      </p:sp>
      <p:sp>
        <p:nvSpPr>
          <p:cNvPr id="4" name="Marcador de número de diapositiva 3">
            <a:extLst>
              <a:ext uri="{FF2B5EF4-FFF2-40B4-BE49-F238E27FC236}">
                <a16:creationId xmlns:a16="http://schemas.microsoft.com/office/drawing/2014/main" id="{01E6A8C6-0E54-4D59-9501-7A76CE90CACA}"/>
              </a:ext>
            </a:extLst>
          </p:cNvPr>
          <p:cNvSpPr>
            <a:spLocks noGrp="1"/>
          </p:cNvSpPr>
          <p:nvPr>
            <p:ph type="sldNum" sz="quarter" idx="12"/>
          </p:nvPr>
        </p:nvSpPr>
        <p:spPr/>
        <p:txBody>
          <a:bodyPr/>
          <a:lstStyle/>
          <a:p>
            <a:fld id="{989033DA-4FB3-4863-BE40-35B8BF45D7BC}" type="slidenum">
              <a:rPr lang="es-ES" smtClean="0"/>
              <a:pPr/>
              <a:t>28</a:t>
            </a:fld>
            <a:endParaRPr lang="es-ES"/>
          </a:p>
        </p:txBody>
      </p:sp>
      <p:pic>
        <p:nvPicPr>
          <p:cNvPr id="6" name="Imagen 5">
            <a:extLst>
              <a:ext uri="{FF2B5EF4-FFF2-40B4-BE49-F238E27FC236}">
                <a16:creationId xmlns:a16="http://schemas.microsoft.com/office/drawing/2014/main" id="{832B5D78-7EEA-4C2E-AA76-7E678052E4F7}"/>
              </a:ext>
            </a:extLst>
          </p:cNvPr>
          <p:cNvPicPr>
            <a:picLocks noChangeAspect="1"/>
          </p:cNvPicPr>
          <p:nvPr/>
        </p:nvPicPr>
        <p:blipFill>
          <a:blip r:embed="rId2"/>
          <a:stretch>
            <a:fillRect/>
          </a:stretch>
        </p:blipFill>
        <p:spPr>
          <a:xfrm>
            <a:off x="0" y="1197679"/>
            <a:ext cx="4211960" cy="5288612"/>
          </a:xfrm>
          <a:prstGeom prst="rect">
            <a:avLst/>
          </a:prstGeom>
        </p:spPr>
      </p:pic>
    </p:spTree>
    <p:extLst>
      <p:ext uri="{BB962C8B-B14F-4D97-AF65-F5344CB8AC3E}">
        <p14:creationId xmlns:p14="http://schemas.microsoft.com/office/powerpoint/2010/main" val="403799201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5A5654D-2161-4E5E-9537-7A13855F3733}"/>
              </a:ext>
            </a:extLst>
          </p:cNvPr>
          <p:cNvSpPr>
            <a:spLocks noGrp="1"/>
          </p:cNvSpPr>
          <p:nvPr>
            <p:ph type="title"/>
          </p:nvPr>
        </p:nvSpPr>
        <p:spPr>
          <a:xfrm>
            <a:off x="611560" y="274638"/>
            <a:ext cx="7344816" cy="554518"/>
          </a:xfrm>
        </p:spPr>
        <p:txBody>
          <a:bodyPr/>
          <a:lstStyle/>
          <a:p>
            <a:r>
              <a:rPr lang="es-ES"/>
              <a:t>Response</a:t>
            </a:r>
          </a:p>
        </p:txBody>
      </p:sp>
      <p:sp>
        <p:nvSpPr>
          <p:cNvPr id="3" name="Marcador de contenido 2">
            <a:extLst>
              <a:ext uri="{FF2B5EF4-FFF2-40B4-BE49-F238E27FC236}">
                <a16:creationId xmlns:a16="http://schemas.microsoft.com/office/drawing/2014/main" id="{B4F07A8B-B481-413D-9814-A8B15A2FE93E}"/>
              </a:ext>
            </a:extLst>
          </p:cNvPr>
          <p:cNvSpPr>
            <a:spLocks noGrp="1"/>
          </p:cNvSpPr>
          <p:nvPr>
            <p:ph idx="1"/>
          </p:nvPr>
        </p:nvSpPr>
        <p:spPr>
          <a:xfrm>
            <a:off x="18336" y="6028845"/>
            <a:ext cx="9125664" cy="712524"/>
          </a:xfrm>
        </p:spPr>
        <p:txBody>
          <a:bodyPr>
            <a:normAutofit/>
          </a:bodyPr>
          <a:lstStyle/>
          <a:p>
            <a:pPr marL="0" indent="0">
              <a:buNone/>
            </a:pPr>
            <a:r>
              <a:rPr lang="en-US" sz="2800"/>
              <a:t>Yes! at any time. </a:t>
            </a:r>
            <a:endParaRPr lang="es-ES" sz="2800"/>
          </a:p>
        </p:txBody>
      </p:sp>
      <p:sp>
        <p:nvSpPr>
          <p:cNvPr id="4" name="Marcador de número de diapositiva 3">
            <a:extLst>
              <a:ext uri="{FF2B5EF4-FFF2-40B4-BE49-F238E27FC236}">
                <a16:creationId xmlns:a16="http://schemas.microsoft.com/office/drawing/2014/main" id="{01E6A8C6-0E54-4D59-9501-7A76CE90CACA}"/>
              </a:ext>
            </a:extLst>
          </p:cNvPr>
          <p:cNvSpPr>
            <a:spLocks noGrp="1"/>
          </p:cNvSpPr>
          <p:nvPr>
            <p:ph type="sldNum" sz="quarter" idx="12"/>
          </p:nvPr>
        </p:nvSpPr>
        <p:spPr/>
        <p:txBody>
          <a:bodyPr/>
          <a:lstStyle/>
          <a:p>
            <a:fld id="{989033DA-4FB3-4863-BE40-35B8BF45D7BC}" type="slidenum">
              <a:rPr lang="es-ES" smtClean="0"/>
              <a:pPr/>
              <a:t>29</a:t>
            </a:fld>
            <a:endParaRPr lang="es-ES"/>
          </a:p>
        </p:txBody>
      </p:sp>
      <p:sp>
        <p:nvSpPr>
          <p:cNvPr id="5" name="Rectángulo 4">
            <a:extLst>
              <a:ext uri="{FF2B5EF4-FFF2-40B4-BE49-F238E27FC236}">
                <a16:creationId xmlns:a16="http://schemas.microsoft.com/office/drawing/2014/main" id="{33AD30F1-AAC0-4063-819A-0590E1DA9826}"/>
              </a:ext>
            </a:extLst>
          </p:cNvPr>
          <p:cNvSpPr/>
          <p:nvPr/>
        </p:nvSpPr>
        <p:spPr>
          <a:xfrm>
            <a:off x="261546" y="1124744"/>
            <a:ext cx="8639244" cy="1815882"/>
          </a:xfrm>
          <a:prstGeom prst="rect">
            <a:avLst/>
          </a:prstGeom>
          <a:solidFill>
            <a:schemeClr val="accent4">
              <a:lumMod val="20000"/>
              <a:lumOff val="80000"/>
            </a:schemeClr>
          </a:solidFill>
          <a:ln w="38100">
            <a:solidFill>
              <a:schemeClr val="tx1">
                <a:lumMod val="65000"/>
                <a:lumOff val="35000"/>
              </a:schemeClr>
            </a:solidFill>
          </a:ln>
        </p:spPr>
        <p:txBody>
          <a:bodyPr wrap="square">
            <a:spAutoFit/>
          </a:bodyPr>
          <a:lstStyle/>
          <a:p>
            <a:r>
              <a:rPr lang="en-US" sz="1400">
                <a:latin typeface="Consolas" panose="020B0609020204030204" pitchFamily="49" charset="0"/>
              </a:rPr>
              <a:t>&lt;Response&gt;</a:t>
            </a:r>
          </a:p>
          <a:p>
            <a:r>
              <a:rPr lang="en-US" sz="1400">
                <a:latin typeface="Consolas" panose="020B0609020204030204" pitchFamily="49" charset="0"/>
              </a:rPr>
              <a:t>  &lt;Result ResourceID="main-door"&gt;</a:t>
            </a:r>
          </a:p>
          <a:p>
            <a:r>
              <a:rPr lang="en-US" sz="1400">
                <a:latin typeface="Consolas" panose="020B0609020204030204" pitchFamily="49" charset="0"/>
              </a:rPr>
              <a:t>    &lt;Decision&gt;</a:t>
            </a:r>
            <a:r>
              <a:rPr lang="en-US" sz="1400">
                <a:solidFill>
                  <a:srgbClr val="C00000"/>
                </a:solidFill>
                <a:latin typeface="Consolas" panose="020B0609020204030204" pitchFamily="49" charset="0"/>
              </a:rPr>
              <a:t>Permit</a:t>
            </a:r>
            <a:r>
              <a:rPr lang="en-US" sz="1400">
                <a:latin typeface="Consolas" panose="020B0609020204030204" pitchFamily="49" charset="0"/>
              </a:rPr>
              <a:t>&lt;/Decision&gt;</a:t>
            </a:r>
          </a:p>
          <a:p>
            <a:r>
              <a:rPr lang="en-US" sz="1400">
                <a:latin typeface="Consolas" panose="020B0609020204030204" pitchFamily="49" charset="0"/>
              </a:rPr>
              <a:t>    &lt;Status&gt;</a:t>
            </a:r>
          </a:p>
          <a:p>
            <a:r>
              <a:rPr lang="en-US" sz="1400">
                <a:latin typeface="Consolas" panose="020B0609020204030204" pitchFamily="49" charset="0"/>
              </a:rPr>
              <a:t>      &lt;StatusCode Value="urn:oasis:names:tc:xacml:1.0:status:ok"/&gt;</a:t>
            </a:r>
          </a:p>
          <a:p>
            <a:r>
              <a:rPr lang="en-US" sz="1400">
                <a:latin typeface="Consolas" panose="020B0609020204030204" pitchFamily="49" charset="0"/>
              </a:rPr>
              <a:t>    &lt;/Status&gt;</a:t>
            </a:r>
          </a:p>
          <a:p>
            <a:r>
              <a:rPr lang="en-US" sz="1400">
                <a:latin typeface="Consolas" panose="020B0609020204030204" pitchFamily="49" charset="0"/>
              </a:rPr>
              <a:t>  &lt;/Result&gt;</a:t>
            </a:r>
          </a:p>
          <a:p>
            <a:r>
              <a:rPr lang="en-US" sz="1400">
                <a:latin typeface="Consolas" panose="020B0609020204030204" pitchFamily="49" charset="0"/>
              </a:rPr>
              <a:t>&lt;/Response&gt;</a:t>
            </a:r>
          </a:p>
        </p:txBody>
      </p:sp>
    </p:spTree>
    <p:extLst>
      <p:ext uri="{BB962C8B-B14F-4D97-AF65-F5344CB8AC3E}">
        <p14:creationId xmlns:p14="http://schemas.microsoft.com/office/powerpoint/2010/main" val="280494001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5A5654D-2161-4E5E-9537-7A13855F3733}"/>
              </a:ext>
            </a:extLst>
          </p:cNvPr>
          <p:cNvSpPr>
            <a:spLocks noGrp="1"/>
          </p:cNvSpPr>
          <p:nvPr>
            <p:ph type="title"/>
          </p:nvPr>
        </p:nvSpPr>
        <p:spPr>
          <a:xfrm>
            <a:off x="611560" y="274638"/>
            <a:ext cx="7344816" cy="554518"/>
          </a:xfrm>
        </p:spPr>
        <p:txBody>
          <a:bodyPr/>
          <a:lstStyle/>
          <a:p>
            <a:r>
              <a:rPr lang="es-ES"/>
              <a:t>A second policy</a:t>
            </a:r>
          </a:p>
        </p:txBody>
      </p:sp>
      <p:sp>
        <p:nvSpPr>
          <p:cNvPr id="3" name="Marcador de contenido 2">
            <a:extLst>
              <a:ext uri="{FF2B5EF4-FFF2-40B4-BE49-F238E27FC236}">
                <a16:creationId xmlns:a16="http://schemas.microsoft.com/office/drawing/2014/main" id="{B4F07A8B-B481-413D-9814-A8B15A2FE93E}"/>
              </a:ext>
            </a:extLst>
          </p:cNvPr>
          <p:cNvSpPr>
            <a:spLocks noGrp="1"/>
          </p:cNvSpPr>
          <p:nvPr>
            <p:ph idx="1"/>
          </p:nvPr>
        </p:nvSpPr>
        <p:spPr>
          <a:xfrm>
            <a:off x="18336" y="6028845"/>
            <a:ext cx="9125664" cy="712524"/>
          </a:xfrm>
        </p:spPr>
        <p:txBody>
          <a:bodyPr>
            <a:normAutofit/>
          </a:bodyPr>
          <a:lstStyle/>
          <a:p>
            <a:pPr marL="0" indent="0">
              <a:buNone/>
            </a:pPr>
            <a:br>
              <a:rPr lang="en-US" sz="2800"/>
            </a:br>
            <a:r>
              <a:rPr lang="en-US" sz="2800"/>
              <a:t>We change the policy</a:t>
            </a:r>
          </a:p>
        </p:txBody>
      </p:sp>
      <p:sp>
        <p:nvSpPr>
          <p:cNvPr id="4" name="Marcador de número de diapositiva 3">
            <a:extLst>
              <a:ext uri="{FF2B5EF4-FFF2-40B4-BE49-F238E27FC236}">
                <a16:creationId xmlns:a16="http://schemas.microsoft.com/office/drawing/2014/main" id="{01E6A8C6-0E54-4D59-9501-7A76CE90CACA}"/>
              </a:ext>
            </a:extLst>
          </p:cNvPr>
          <p:cNvSpPr>
            <a:spLocks noGrp="1"/>
          </p:cNvSpPr>
          <p:nvPr>
            <p:ph type="sldNum" sz="quarter" idx="12"/>
          </p:nvPr>
        </p:nvSpPr>
        <p:spPr/>
        <p:txBody>
          <a:bodyPr/>
          <a:lstStyle/>
          <a:p>
            <a:fld id="{989033DA-4FB3-4863-BE40-35B8BF45D7BC}" type="slidenum">
              <a:rPr lang="es-ES" smtClean="0"/>
              <a:pPr/>
              <a:t>30</a:t>
            </a:fld>
            <a:endParaRPr lang="es-ES"/>
          </a:p>
        </p:txBody>
      </p:sp>
      <p:pic>
        <p:nvPicPr>
          <p:cNvPr id="7" name="Imagen 6">
            <a:extLst>
              <a:ext uri="{FF2B5EF4-FFF2-40B4-BE49-F238E27FC236}">
                <a16:creationId xmlns:a16="http://schemas.microsoft.com/office/drawing/2014/main" id="{2BA73DF1-4E10-4B05-928C-D0EB84577E23}"/>
              </a:ext>
            </a:extLst>
          </p:cNvPr>
          <p:cNvPicPr>
            <a:picLocks noChangeAspect="1"/>
          </p:cNvPicPr>
          <p:nvPr/>
        </p:nvPicPr>
        <p:blipFill>
          <a:blip r:embed="rId2"/>
          <a:stretch>
            <a:fillRect/>
          </a:stretch>
        </p:blipFill>
        <p:spPr>
          <a:xfrm>
            <a:off x="611560" y="1310799"/>
            <a:ext cx="7991872" cy="4694845"/>
          </a:xfrm>
          <a:prstGeom prst="rect">
            <a:avLst/>
          </a:prstGeom>
        </p:spPr>
      </p:pic>
      <p:sp>
        <p:nvSpPr>
          <p:cNvPr id="8" name="Elipse 7">
            <a:extLst>
              <a:ext uri="{FF2B5EF4-FFF2-40B4-BE49-F238E27FC236}">
                <a16:creationId xmlns:a16="http://schemas.microsoft.com/office/drawing/2014/main" id="{16B65F3F-4942-4A7B-B8D3-29C45AB2B424}"/>
              </a:ext>
            </a:extLst>
          </p:cNvPr>
          <p:cNvSpPr/>
          <p:nvPr/>
        </p:nvSpPr>
        <p:spPr>
          <a:xfrm>
            <a:off x="4601326" y="2149012"/>
            <a:ext cx="1410834" cy="835254"/>
          </a:xfrm>
          <a:prstGeom prst="ellipse">
            <a:avLst/>
          </a:prstGeom>
          <a:noFill/>
          <a:ln w="1016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Elipse 8">
            <a:extLst>
              <a:ext uri="{FF2B5EF4-FFF2-40B4-BE49-F238E27FC236}">
                <a16:creationId xmlns:a16="http://schemas.microsoft.com/office/drawing/2014/main" id="{9F173C51-57BA-43E4-8FC8-89411D1C8BB8}"/>
              </a:ext>
            </a:extLst>
          </p:cNvPr>
          <p:cNvSpPr/>
          <p:nvPr/>
        </p:nvSpPr>
        <p:spPr>
          <a:xfrm>
            <a:off x="6084168" y="4077072"/>
            <a:ext cx="1410834" cy="835254"/>
          </a:xfrm>
          <a:prstGeom prst="ellipse">
            <a:avLst/>
          </a:prstGeom>
          <a:noFill/>
          <a:ln w="1016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91996699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806492F-DE2A-4E5B-984D-919F5FEF1EE9}"/>
              </a:ext>
            </a:extLst>
          </p:cNvPr>
          <p:cNvSpPr>
            <a:spLocks noGrp="1"/>
          </p:cNvSpPr>
          <p:nvPr>
            <p:ph type="title"/>
          </p:nvPr>
        </p:nvSpPr>
        <p:spPr/>
        <p:txBody>
          <a:bodyPr/>
          <a:lstStyle/>
          <a:p>
            <a:r>
              <a:rPr lang="es-ES"/>
              <a:t>Test Sun's XACML implementation</a:t>
            </a:r>
          </a:p>
        </p:txBody>
      </p:sp>
      <p:sp>
        <p:nvSpPr>
          <p:cNvPr id="3" name="Marcador de contenido 2">
            <a:extLst>
              <a:ext uri="{FF2B5EF4-FFF2-40B4-BE49-F238E27FC236}">
                <a16:creationId xmlns:a16="http://schemas.microsoft.com/office/drawing/2014/main" id="{372185C8-9300-4C93-8982-49076C35B065}"/>
              </a:ext>
            </a:extLst>
          </p:cNvPr>
          <p:cNvSpPr>
            <a:spLocks noGrp="1"/>
          </p:cNvSpPr>
          <p:nvPr>
            <p:ph idx="1"/>
          </p:nvPr>
        </p:nvSpPr>
        <p:spPr/>
        <p:txBody>
          <a:bodyPr>
            <a:normAutofit/>
          </a:bodyPr>
          <a:lstStyle/>
          <a:p>
            <a:r>
              <a:rPr lang="es-ES" sz="2800"/>
              <a:t>Make a second test!</a:t>
            </a:r>
          </a:p>
          <a:p>
            <a:pPr marL="457200" lvl="1" indent="0">
              <a:buNone/>
            </a:pPr>
            <a:endParaRPr lang="es-ES" sz="1600">
              <a:latin typeface="Consolas" panose="020B0609020204030204" pitchFamily="49" charset="0"/>
            </a:endParaRPr>
          </a:p>
          <a:p>
            <a:pPr marL="457200" lvl="1" indent="0">
              <a:buNone/>
            </a:pPr>
            <a:endParaRPr lang="es-ES" sz="1600">
              <a:latin typeface="Consolas" panose="020B0609020204030204" pitchFamily="49" charset="0"/>
            </a:endParaRPr>
          </a:p>
          <a:p>
            <a:pPr marL="457200" lvl="1" indent="0">
              <a:buNone/>
            </a:pPr>
            <a:endParaRPr lang="es-ES" sz="1600">
              <a:latin typeface="Consolas" panose="020B0609020204030204" pitchFamily="49" charset="0"/>
            </a:endParaRPr>
          </a:p>
          <a:p>
            <a:pPr marL="457200" lvl="1" indent="0">
              <a:buNone/>
            </a:pPr>
            <a:endParaRPr lang="es-ES" sz="1600">
              <a:latin typeface="Consolas" panose="020B0609020204030204" pitchFamily="49" charset="0"/>
            </a:endParaRPr>
          </a:p>
          <a:p>
            <a:pPr marL="457200" lvl="1" indent="0">
              <a:buNone/>
            </a:pPr>
            <a:endParaRPr lang="es-ES" sz="1600">
              <a:latin typeface="Consolas" panose="020B0609020204030204" pitchFamily="49" charset="0"/>
            </a:endParaRPr>
          </a:p>
          <a:p>
            <a:pPr marL="457200" lvl="1" indent="0">
              <a:buNone/>
            </a:pPr>
            <a:endParaRPr lang="es-ES" sz="1600">
              <a:latin typeface="Consolas" panose="020B0609020204030204" pitchFamily="49" charset="0"/>
            </a:endParaRPr>
          </a:p>
          <a:p>
            <a:pPr marL="457200" lvl="1" indent="0">
              <a:buNone/>
            </a:pPr>
            <a:endParaRPr lang="es-ES" sz="1600">
              <a:latin typeface="Consolas" panose="020B0609020204030204" pitchFamily="49" charset="0"/>
            </a:endParaRPr>
          </a:p>
          <a:p>
            <a:pPr marL="457200" lvl="1" indent="0">
              <a:buNone/>
            </a:pPr>
            <a:endParaRPr lang="es-ES" sz="1600">
              <a:latin typeface="Consolas" panose="020B0609020204030204" pitchFamily="49" charset="0"/>
            </a:endParaRPr>
          </a:p>
          <a:p>
            <a:pPr marL="457200" lvl="1" indent="0">
              <a:buNone/>
            </a:pPr>
            <a:endParaRPr lang="es-ES" sz="1600">
              <a:latin typeface="Consolas" panose="020B0609020204030204" pitchFamily="49" charset="0"/>
            </a:endParaRPr>
          </a:p>
          <a:p>
            <a:pPr marL="457200" lvl="1" indent="0">
              <a:buNone/>
            </a:pPr>
            <a:endParaRPr lang="es-ES" sz="1600">
              <a:latin typeface="Consolas" panose="020B0609020204030204" pitchFamily="49" charset="0"/>
            </a:endParaRPr>
          </a:p>
          <a:p>
            <a:pPr marL="457200" lvl="1" indent="0">
              <a:buNone/>
            </a:pPr>
            <a:endParaRPr lang="es-ES" sz="1600">
              <a:latin typeface="Consolas" panose="020B0609020204030204" pitchFamily="49" charset="0"/>
            </a:endParaRPr>
          </a:p>
          <a:p>
            <a:pPr marL="457200" lvl="1" indent="0">
              <a:buNone/>
            </a:pPr>
            <a:endParaRPr lang="es-ES" sz="1600">
              <a:latin typeface="Consolas" panose="020B0609020204030204" pitchFamily="49" charset="0"/>
            </a:endParaRPr>
          </a:p>
        </p:txBody>
      </p:sp>
      <p:sp>
        <p:nvSpPr>
          <p:cNvPr id="4" name="Marcador de número de diapositiva 3">
            <a:extLst>
              <a:ext uri="{FF2B5EF4-FFF2-40B4-BE49-F238E27FC236}">
                <a16:creationId xmlns:a16="http://schemas.microsoft.com/office/drawing/2014/main" id="{24E6B207-9271-4EF4-B316-3E2A96B662C0}"/>
              </a:ext>
            </a:extLst>
          </p:cNvPr>
          <p:cNvSpPr>
            <a:spLocks noGrp="1"/>
          </p:cNvSpPr>
          <p:nvPr>
            <p:ph type="sldNum" sz="quarter" idx="12"/>
          </p:nvPr>
        </p:nvSpPr>
        <p:spPr/>
        <p:txBody>
          <a:bodyPr/>
          <a:lstStyle/>
          <a:p>
            <a:fld id="{989033DA-4FB3-4863-BE40-35B8BF45D7BC}" type="slidenum">
              <a:rPr lang="es-ES" smtClean="0"/>
              <a:pPr/>
              <a:t>31</a:t>
            </a:fld>
            <a:endParaRPr lang="es-ES"/>
          </a:p>
        </p:txBody>
      </p:sp>
      <p:sp>
        <p:nvSpPr>
          <p:cNvPr id="5" name="Rectángulo 4">
            <a:extLst>
              <a:ext uri="{FF2B5EF4-FFF2-40B4-BE49-F238E27FC236}">
                <a16:creationId xmlns:a16="http://schemas.microsoft.com/office/drawing/2014/main" id="{4727F614-2E93-420E-8E20-8BDF7E043989}"/>
              </a:ext>
            </a:extLst>
          </p:cNvPr>
          <p:cNvSpPr/>
          <p:nvPr/>
        </p:nvSpPr>
        <p:spPr>
          <a:xfrm>
            <a:off x="107504" y="2276872"/>
            <a:ext cx="8712968" cy="720080"/>
          </a:xfrm>
          <a:prstGeom prst="rect">
            <a:avLst/>
          </a:prstGeom>
          <a:solidFill>
            <a:schemeClr val="tx1">
              <a:lumMod val="75000"/>
              <a:lumOff val="2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pt-BR" sz="1600">
                <a:latin typeface="Consolas" panose="020B0609020204030204" pitchFamily="49" charset="0"/>
              </a:rPr>
              <a:t>00 java -cp "lib/sunxacml.jar;lib/samples.jar" SimplePDP sample/request/door-access.xml sample/policy/time-range.xml</a:t>
            </a:r>
          </a:p>
          <a:p>
            <a:endParaRPr lang="pt-BR" sz="1600">
              <a:latin typeface="Consolas" panose="020B0609020204030204" pitchFamily="49" charset="0"/>
            </a:endParaRPr>
          </a:p>
          <a:p>
            <a:endParaRPr lang="es-ES" sz="1600">
              <a:latin typeface="Consolas" panose="020B0609020204030204" pitchFamily="49" charset="0"/>
            </a:endParaRPr>
          </a:p>
        </p:txBody>
      </p:sp>
      <p:sp>
        <p:nvSpPr>
          <p:cNvPr id="6" name="Rectángulo 5">
            <a:extLst>
              <a:ext uri="{FF2B5EF4-FFF2-40B4-BE49-F238E27FC236}">
                <a16:creationId xmlns:a16="http://schemas.microsoft.com/office/drawing/2014/main" id="{13EB7E7C-5620-482D-80AE-6E72F753BFE9}"/>
              </a:ext>
            </a:extLst>
          </p:cNvPr>
          <p:cNvSpPr/>
          <p:nvPr/>
        </p:nvSpPr>
        <p:spPr>
          <a:xfrm>
            <a:off x="323528" y="4490345"/>
            <a:ext cx="8639244" cy="1815882"/>
          </a:xfrm>
          <a:prstGeom prst="rect">
            <a:avLst/>
          </a:prstGeom>
          <a:solidFill>
            <a:schemeClr val="accent4">
              <a:lumMod val="20000"/>
              <a:lumOff val="80000"/>
            </a:schemeClr>
          </a:solidFill>
          <a:ln w="38100">
            <a:solidFill>
              <a:schemeClr val="tx1">
                <a:lumMod val="65000"/>
                <a:lumOff val="35000"/>
              </a:schemeClr>
            </a:solidFill>
          </a:ln>
        </p:spPr>
        <p:txBody>
          <a:bodyPr wrap="square">
            <a:spAutoFit/>
          </a:bodyPr>
          <a:lstStyle/>
          <a:p>
            <a:r>
              <a:rPr lang="en-US" sz="1400">
                <a:latin typeface="Consolas" panose="020B0609020204030204" pitchFamily="49" charset="0"/>
              </a:rPr>
              <a:t>&lt;Response&gt;</a:t>
            </a:r>
          </a:p>
          <a:p>
            <a:r>
              <a:rPr lang="en-US" sz="1400">
                <a:latin typeface="Consolas" panose="020B0609020204030204" pitchFamily="49" charset="0"/>
              </a:rPr>
              <a:t>  &lt;Result ResourceID="main-door"&gt;</a:t>
            </a:r>
          </a:p>
          <a:p>
            <a:r>
              <a:rPr lang="en-US" sz="1400">
                <a:latin typeface="Consolas" panose="020B0609020204030204" pitchFamily="49" charset="0"/>
              </a:rPr>
              <a:t>    &lt;Decision&gt;</a:t>
            </a:r>
            <a:r>
              <a:rPr lang="en-US" sz="1400">
                <a:solidFill>
                  <a:srgbClr val="C00000"/>
                </a:solidFill>
                <a:latin typeface="Consolas" panose="020B0609020204030204" pitchFamily="49" charset="0"/>
              </a:rPr>
              <a:t>Deny</a:t>
            </a:r>
            <a:r>
              <a:rPr lang="en-US" sz="1400">
                <a:latin typeface="Consolas" panose="020B0609020204030204" pitchFamily="49" charset="0"/>
              </a:rPr>
              <a:t>&lt;/Decision&gt;</a:t>
            </a:r>
          </a:p>
          <a:p>
            <a:r>
              <a:rPr lang="en-US" sz="1400">
                <a:latin typeface="Consolas" panose="020B0609020204030204" pitchFamily="49" charset="0"/>
              </a:rPr>
              <a:t>    &lt;Status&gt;</a:t>
            </a:r>
          </a:p>
          <a:p>
            <a:r>
              <a:rPr lang="en-US" sz="1400">
                <a:latin typeface="Consolas" panose="020B0609020204030204" pitchFamily="49" charset="0"/>
              </a:rPr>
              <a:t>      &lt;StatusCode Value="urn:oasis:names:tc:xacml:1.0:status:ok"/&gt;</a:t>
            </a:r>
          </a:p>
          <a:p>
            <a:r>
              <a:rPr lang="en-US" sz="1400">
                <a:latin typeface="Consolas" panose="020B0609020204030204" pitchFamily="49" charset="0"/>
              </a:rPr>
              <a:t>    &lt;/Status&gt;</a:t>
            </a:r>
          </a:p>
          <a:p>
            <a:r>
              <a:rPr lang="en-US" sz="1400">
                <a:latin typeface="Consolas" panose="020B0609020204030204" pitchFamily="49" charset="0"/>
              </a:rPr>
              <a:t>  &lt;/Result&gt;</a:t>
            </a:r>
          </a:p>
          <a:p>
            <a:r>
              <a:rPr lang="en-US" sz="1400">
                <a:latin typeface="Consolas" panose="020B0609020204030204" pitchFamily="49" charset="0"/>
              </a:rPr>
              <a:t>&lt;/Response&gt;</a:t>
            </a:r>
          </a:p>
        </p:txBody>
      </p:sp>
    </p:spTree>
    <p:extLst>
      <p:ext uri="{BB962C8B-B14F-4D97-AF65-F5344CB8AC3E}">
        <p14:creationId xmlns:p14="http://schemas.microsoft.com/office/powerpoint/2010/main" val="25413611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ítulo 4">
            <a:extLst>
              <a:ext uri="{FF2B5EF4-FFF2-40B4-BE49-F238E27FC236}">
                <a16:creationId xmlns:a16="http://schemas.microsoft.com/office/drawing/2014/main" id="{6EEFAB82-44E9-4828-A82D-D2C77F7D8F28}"/>
              </a:ext>
            </a:extLst>
          </p:cNvPr>
          <p:cNvSpPr>
            <a:spLocks noGrp="1"/>
          </p:cNvSpPr>
          <p:nvPr>
            <p:ph type="title"/>
          </p:nvPr>
        </p:nvSpPr>
        <p:spPr>
          <a:xfrm>
            <a:off x="827584" y="3068960"/>
            <a:ext cx="7344816" cy="1143000"/>
          </a:xfrm>
        </p:spPr>
        <p:txBody>
          <a:bodyPr/>
          <a:lstStyle/>
          <a:p>
            <a:r>
              <a:rPr lang="es-ES"/>
              <a:t>XACML Conformance</a:t>
            </a:r>
          </a:p>
        </p:txBody>
      </p:sp>
      <p:sp>
        <p:nvSpPr>
          <p:cNvPr id="4" name="Marcador de número de diapositiva 3">
            <a:extLst>
              <a:ext uri="{FF2B5EF4-FFF2-40B4-BE49-F238E27FC236}">
                <a16:creationId xmlns:a16="http://schemas.microsoft.com/office/drawing/2014/main" id="{AB076C33-F11B-4FA0-86BD-897B2912D667}"/>
              </a:ext>
            </a:extLst>
          </p:cNvPr>
          <p:cNvSpPr>
            <a:spLocks noGrp="1"/>
          </p:cNvSpPr>
          <p:nvPr>
            <p:ph type="sldNum" sz="quarter" idx="4294967295"/>
          </p:nvPr>
        </p:nvSpPr>
        <p:spPr>
          <a:xfrm>
            <a:off x="7010400" y="6486525"/>
            <a:ext cx="2133600" cy="365125"/>
          </a:xfrm>
        </p:spPr>
        <p:txBody>
          <a:bodyPr/>
          <a:lstStyle/>
          <a:p>
            <a:fld id="{989033DA-4FB3-4863-BE40-35B8BF45D7BC}" type="slidenum">
              <a:rPr lang="es-ES" smtClean="0"/>
              <a:pPr/>
              <a:t>32</a:t>
            </a:fld>
            <a:endParaRPr lang="es-ES"/>
          </a:p>
        </p:txBody>
      </p:sp>
    </p:spTree>
    <p:extLst>
      <p:ext uri="{BB962C8B-B14F-4D97-AF65-F5344CB8AC3E}">
        <p14:creationId xmlns:p14="http://schemas.microsoft.com/office/powerpoint/2010/main" val="393389610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CF13D11-65C0-4969-A666-B7FEBD57A2B4}"/>
              </a:ext>
            </a:extLst>
          </p:cNvPr>
          <p:cNvSpPr>
            <a:spLocks noGrp="1"/>
          </p:cNvSpPr>
          <p:nvPr>
            <p:ph type="title"/>
          </p:nvPr>
        </p:nvSpPr>
        <p:spPr/>
        <p:txBody>
          <a:bodyPr/>
          <a:lstStyle/>
          <a:p>
            <a:r>
              <a:rPr lang="es-ES"/>
              <a:t>Conformance</a:t>
            </a:r>
          </a:p>
        </p:txBody>
      </p:sp>
      <p:pic>
        <p:nvPicPr>
          <p:cNvPr id="5" name="Marcador de contenido 4">
            <a:extLst>
              <a:ext uri="{FF2B5EF4-FFF2-40B4-BE49-F238E27FC236}">
                <a16:creationId xmlns:a16="http://schemas.microsoft.com/office/drawing/2014/main" id="{6781CB46-F797-4AE1-A592-80C307923BED}"/>
              </a:ext>
            </a:extLst>
          </p:cNvPr>
          <p:cNvPicPr>
            <a:picLocks noGrp="1" noChangeAspect="1"/>
          </p:cNvPicPr>
          <p:nvPr>
            <p:ph idx="1"/>
          </p:nvPr>
        </p:nvPicPr>
        <p:blipFill>
          <a:blip r:embed="rId2"/>
          <a:stretch>
            <a:fillRect/>
          </a:stretch>
        </p:blipFill>
        <p:spPr>
          <a:xfrm>
            <a:off x="-2489" y="1417638"/>
            <a:ext cx="8803464" cy="5251722"/>
          </a:xfrm>
          <a:prstGeom prst="rect">
            <a:avLst/>
          </a:prstGeom>
        </p:spPr>
      </p:pic>
      <p:sp>
        <p:nvSpPr>
          <p:cNvPr id="4" name="Marcador de número de diapositiva 3">
            <a:extLst>
              <a:ext uri="{FF2B5EF4-FFF2-40B4-BE49-F238E27FC236}">
                <a16:creationId xmlns:a16="http://schemas.microsoft.com/office/drawing/2014/main" id="{8B262917-257E-45DA-BB79-5B93D7E1B7F7}"/>
              </a:ext>
            </a:extLst>
          </p:cNvPr>
          <p:cNvSpPr>
            <a:spLocks noGrp="1"/>
          </p:cNvSpPr>
          <p:nvPr>
            <p:ph type="sldNum" sz="quarter" idx="12"/>
          </p:nvPr>
        </p:nvSpPr>
        <p:spPr/>
        <p:txBody>
          <a:bodyPr/>
          <a:lstStyle/>
          <a:p>
            <a:fld id="{989033DA-4FB3-4863-BE40-35B8BF45D7BC}" type="slidenum">
              <a:rPr lang="es-ES" smtClean="0"/>
              <a:pPr/>
              <a:t>33</a:t>
            </a:fld>
            <a:endParaRPr lang="es-ES"/>
          </a:p>
        </p:txBody>
      </p:sp>
    </p:spTree>
    <p:extLst>
      <p:ext uri="{BB962C8B-B14F-4D97-AF65-F5344CB8AC3E}">
        <p14:creationId xmlns:p14="http://schemas.microsoft.com/office/powerpoint/2010/main" val="344080867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ítulo 4">
            <a:extLst>
              <a:ext uri="{FF2B5EF4-FFF2-40B4-BE49-F238E27FC236}">
                <a16:creationId xmlns:a16="http://schemas.microsoft.com/office/drawing/2014/main" id="{40D2FDE1-C018-48FA-B0E6-EC7CA126325F}"/>
              </a:ext>
            </a:extLst>
          </p:cNvPr>
          <p:cNvSpPr>
            <a:spLocks noGrp="1"/>
          </p:cNvSpPr>
          <p:nvPr>
            <p:ph type="title"/>
          </p:nvPr>
        </p:nvSpPr>
        <p:spPr/>
        <p:txBody>
          <a:bodyPr/>
          <a:lstStyle/>
          <a:p>
            <a:r>
              <a:rPr lang="es-ES"/>
              <a:t>Conformance Tests</a:t>
            </a:r>
          </a:p>
        </p:txBody>
      </p:sp>
      <p:sp>
        <p:nvSpPr>
          <p:cNvPr id="4" name="Marcador de número de diapositiva 3">
            <a:extLst>
              <a:ext uri="{FF2B5EF4-FFF2-40B4-BE49-F238E27FC236}">
                <a16:creationId xmlns:a16="http://schemas.microsoft.com/office/drawing/2014/main" id="{2C90A78B-815B-4456-9405-0F7360C37B21}"/>
              </a:ext>
            </a:extLst>
          </p:cNvPr>
          <p:cNvSpPr>
            <a:spLocks noGrp="1"/>
          </p:cNvSpPr>
          <p:nvPr>
            <p:ph type="sldNum" sz="quarter" idx="12"/>
          </p:nvPr>
        </p:nvSpPr>
        <p:spPr/>
        <p:txBody>
          <a:bodyPr/>
          <a:lstStyle/>
          <a:p>
            <a:fld id="{989033DA-4FB3-4863-BE40-35B8BF45D7BC}" type="slidenum">
              <a:rPr lang="es-ES" smtClean="0"/>
              <a:pPr/>
              <a:t>34</a:t>
            </a:fld>
            <a:endParaRPr lang="es-ES"/>
          </a:p>
        </p:txBody>
      </p:sp>
      <p:pic>
        <p:nvPicPr>
          <p:cNvPr id="7" name="Imagen 6">
            <a:extLst>
              <a:ext uri="{FF2B5EF4-FFF2-40B4-BE49-F238E27FC236}">
                <a16:creationId xmlns:a16="http://schemas.microsoft.com/office/drawing/2014/main" id="{31917AE1-010A-4FDD-AE82-C898025AC70A}"/>
              </a:ext>
            </a:extLst>
          </p:cNvPr>
          <p:cNvPicPr>
            <a:picLocks noChangeAspect="1"/>
          </p:cNvPicPr>
          <p:nvPr/>
        </p:nvPicPr>
        <p:blipFill>
          <a:blip r:embed="rId2"/>
          <a:stretch>
            <a:fillRect/>
          </a:stretch>
        </p:blipFill>
        <p:spPr>
          <a:xfrm>
            <a:off x="985457" y="1584217"/>
            <a:ext cx="6989689" cy="4996310"/>
          </a:xfrm>
          <a:prstGeom prst="rect">
            <a:avLst/>
          </a:prstGeom>
        </p:spPr>
      </p:pic>
    </p:spTree>
    <p:extLst>
      <p:ext uri="{BB962C8B-B14F-4D97-AF65-F5344CB8AC3E}">
        <p14:creationId xmlns:p14="http://schemas.microsoft.com/office/powerpoint/2010/main" val="55601137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ítulo 4">
            <a:extLst>
              <a:ext uri="{FF2B5EF4-FFF2-40B4-BE49-F238E27FC236}">
                <a16:creationId xmlns:a16="http://schemas.microsoft.com/office/drawing/2014/main" id="{90B5180F-A377-4E98-9E9C-6B807CD912EA}"/>
              </a:ext>
            </a:extLst>
          </p:cNvPr>
          <p:cNvSpPr>
            <a:spLocks noGrp="1"/>
          </p:cNvSpPr>
          <p:nvPr>
            <p:ph type="title"/>
          </p:nvPr>
        </p:nvSpPr>
        <p:spPr/>
        <p:txBody>
          <a:bodyPr/>
          <a:lstStyle/>
          <a:p>
            <a:r>
              <a:rPr lang="es-ES"/>
              <a:t>ODRL</a:t>
            </a:r>
          </a:p>
        </p:txBody>
      </p:sp>
      <p:sp>
        <p:nvSpPr>
          <p:cNvPr id="4" name="Marcador de número de diapositiva 3">
            <a:extLst>
              <a:ext uri="{FF2B5EF4-FFF2-40B4-BE49-F238E27FC236}">
                <a16:creationId xmlns:a16="http://schemas.microsoft.com/office/drawing/2014/main" id="{1A190AAA-F52E-4C40-AF87-D07F8CFB3794}"/>
              </a:ext>
            </a:extLst>
          </p:cNvPr>
          <p:cNvSpPr>
            <a:spLocks noGrp="1"/>
          </p:cNvSpPr>
          <p:nvPr>
            <p:ph type="sldNum" sz="quarter" idx="4294967295"/>
          </p:nvPr>
        </p:nvSpPr>
        <p:spPr>
          <a:xfrm>
            <a:off x="7010400" y="6486525"/>
            <a:ext cx="2133600" cy="365125"/>
          </a:xfrm>
        </p:spPr>
        <p:txBody>
          <a:bodyPr/>
          <a:lstStyle/>
          <a:p>
            <a:fld id="{989033DA-4FB3-4863-BE40-35B8BF45D7BC}" type="slidenum">
              <a:rPr lang="es-ES" smtClean="0"/>
              <a:pPr/>
              <a:t>35</a:t>
            </a:fld>
            <a:endParaRPr lang="es-ES"/>
          </a:p>
        </p:txBody>
      </p:sp>
    </p:spTree>
    <p:extLst>
      <p:ext uri="{BB962C8B-B14F-4D97-AF65-F5344CB8AC3E}">
        <p14:creationId xmlns:p14="http://schemas.microsoft.com/office/powerpoint/2010/main" val="94304354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85A78FC-B4C2-4AD0-B7A6-183DCDABDE84}"/>
              </a:ext>
            </a:extLst>
          </p:cNvPr>
          <p:cNvSpPr>
            <a:spLocks noGrp="1"/>
          </p:cNvSpPr>
          <p:nvPr>
            <p:ph type="title"/>
          </p:nvPr>
        </p:nvSpPr>
        <p:spPr/>
        <p:txBody>
          <a:bodyPr/>
          <a:lstStyle/>
          <a:p>
            <a:r>
              <a:rPr lang="es-ES"/>
              <a:t>ODRL as an answer to a call</a:t>
            </a:r>
          </a:p>
        </p:txBody>
      </p:sp>
      <p:sp>
        <p:nvSpPr>
          <p:cNvPr id="4" name="Marcador de número de diapositiva 3">
            <a:extLst>
              <a:ext uri="{FF2B5EF4-FFF2-40B4-BE49-F238E27FC236}">
                <a16:creationId xmlns:a16="http://schemas.microsoft.com/office/drawing/2014/main" id="{9136D642-3968-48BD-AC97-8968837E507D}"/>
              </a:ext>
            </a:extLst>
          </p:cNvPr>
          <p:cNvSpPr>
            <a:spLocks noGrp="1"/>
          </p:cNvSpPr>
          <p:nvPr>
            <p:ph type="sldNum" sz="quarter" idx="12"/>
          </p:nvPr>
        </p:nvSpPr>
        <p:spPr/>
        <p:txBody>
          <a:bodyPr/>
          <a:lstStyle/>
          <a:p>
            <a:fld id="{6B5A57B2-1EBD-4091-B82A-048719E51FB6}" type="slidenum">
              <a:rPr lang="es-ES" smtClean="0"/>
              <a:pPr/>
              <a:t>36</a:t>
            </a:fld>
            <a:endParaRPr lang="es-ES"/>
          </a:p>
        </p:txBody>
      </p:sp>
      <p:pic>
        <p:nvPicPr>
          <p:cNvPr id="5" name="Imagen 4">
            <a:extLst>
              <a:ext uri="{FF2B5EF4-FFF2-40B4-BE49-F238E27FC236}">
                <a16:creationId xmlns:a16="http://schemas.microsoft.com/office/drawing/2014/main" id="{79B8499A-8311-426C-8469-6C48FE9CF416}"/>
              </a:ext>
            </a:extLst>
          </p:cNvPr>
          <p:cNvPicPr>
            <a:picLocks noChangeAspect="1"/>
          </p:cNvPicPr>
          <p:nvPr/>
        </p:nvPicPr>
        <p:blipFill>
          <a:blip r:embed="rId2"/>
          <a:stretch>
            <a:fillRect/>
          </a:stretch>
        </p:blipFill>
        <p:spPr>
          <a:xfrm>
            <a:off x="0" y="1271320"/>
            <a:ext cx="5186936" cy="4690103"/>
          </a:xfrm>
          <a:prstGeom prst="rect">
            <a:avLst/>
          </a:prstGeom>
          <a:ln w="25400">
            <a:solidFill>
              <a:schemeClr val="accent1"/>
            </a:solidFill>
          </a:ln>
        </p:spPr>
      </p:pic>
      <p:pic>
        <p:nvPicPr>
          <p:cNvPr id="6" name="Picture 2" descr="http://www.avslab.org/MPEG_Photo_S.jpg">
            <a:extLst>
              <a:ext uri="{FF2B5EF4-FFF2-40B4-BE49-F238E27FC236}">
                <a16:creationId xmlns:a16="http://schemas.microsoft.com/office/drawing/2014/main" id="{0643E8F4-F96D-4065-AF37-167FCC33001B}"/>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5275279" y="4977210"/>
            <a:ext cx="3780378" cy="879280"/>
          </a:xfrm>
          <a:prstGeom prst="rect">
            <a:avLst/>
          </a:prstGeom>
          <a:noFill/>
          <a:extLst>
            <a:ext uri="{909E8E84-426E-40DD-AFC4-6F175D3DCCD1}">
              <a14:hiddenFill xmlns:a14="http://schemas.microsoft.com/office/drawing/2010/main">
                <a:solidFill>
                  <a:srgbClr val="FFFFFF"/>
                </a:solidFill>
              </a14:hiddenFill>
            </a:ext>
          </a:extLst>
        </p:spPr>
      </p:pic>
      <p:sp>
        <p:nvSpPr>
          <p:cNvPr id="7" name="CuadroTexto 6">
            <a:extLst>
              <a:ext uri="{FF2B5EF4-FFF2-40B4-BE49-F238E27FC236}">
                <a16:creationId xmlns:a16="http://schemas.microsoft.com/office/drawing/2014/main" id="{FDB0DCFD-C3F4-4A61-B0B7-6952A91AA684}"/>
              </a:ext>
            </a:extLst>
          </p:cNvPr>
          <p:cNvSpPr txBox="1"/>
          <p:nvPr/>
        </p:nvSpPr>
        <p:spPr>
          <a:xfrm>
            <a:off x="5529263" y="2880360"/>
            <a:ext cx="3171825" cy="1477328"/>
          </a:xfrm>
          <a:prstGeom prst="rect">
            <a:avLst/>
          </a:prstGeom>
          <a:noFill/>
        </p:spPr>
        <p:txBody>
          <a:bodyPr wrap="square" rtlCol="0">
            <a:spAutoFit/>
          </a:bodyPr>
          <a:lstStyle/>
          <a:p>
            <a:pPr algn="ctr"/>
            <a:r>
              <a:rPr lang="es-ES" sz="3300"/>
              <a:t>ISO/IEC 21000</a:t>
            </a:r>
          </a:p>
          <a:p>
            <a:pPr algn="ctr"/>
            <a:endParaRPr lang="es-ES" sz="3300"/>
          </a:p>
          <a:p>
            <a:pPr algn="ctr"/>
            <a:r>
              <a:rPr lang="es-ES" sz="2400"/>
              <a:t>MPEG-21</a:t>
            </a:r>
          </a:p>
        </p:txBody>
      </p:sp>
    </p:spTree>
    <p:extLst>
      <p:ext uri="{BB962C8B-B14F-4D97-AF65-F5344CB8AC3E}">
        <p14:creationId xmlns:p14="http://schemas.microsoft.com/office/powerpoint/2010/main" val="372937752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 name="Shape 89"/>
          <p:cNvSpPr>
            <a:spLocks noGrp="1"/>
          </p:cNvSpPr>
          <p:nvPr>
            <p:ph type="title"/>
          </p:nvPr>
        </p:nvSpPr>
        <p:spPr>
          <a:prstGeom prst="rect">
            <a:avLst/>
          </a:prstGeom>
        </p:spPr>
        <p:txBody>
          <a:bodyPr/>
          <a:lstStyle/>
          <a:p>
            <a:r>
              <a:rPr lang="es-ES"/>
              <a:t>History of ODRL: The c</a:t>
            </a:r>
            <a:r>
              <a:t>ontext of RELs</a:t>
            </a:r>
          </a:p>
        </p:txBody>
      </p:sp>
      <p:sp>
        <p:nvSpPr>
          <p:cNvPr id="90" name="Shape 90"/>
          <p:cNvSpPr>
            <a:spLocks noGrp="1"/>
          </p:cNvSpPr>
          <p:nvPr>
            <p:ph idx="1"/>
          </p:nvPr>
        </p:nvSpPr>
        <p:spPr>
          <a:xfrm>
            <a:off x="1" y="1271320"/>
            <a:ext cx="9143999" cy="4729430"/>
          </a:xfrm>
          <a:prstGeom prst="rect">
            <a:avLst/>
          </a:prstGeom>
        </p:spPr>
        <p:txBody>
          <a:bodyPr/>
          <a:lstStyle/>
          <a:p>
            <a:pPr marL="171176" indent="-171176" defTabSz="218725">
              <a:spcBef>
                <a:spcPts val="580"/>
              </a:spcBef>
              <a:defRPr sz="2556"/>
            </a:pPr>
            <a:r>
              <a:t>Rights Expression Languages (Circa 2000)</a:t>
            </a:r>
          </a:p>
          <a:p>
            <a:pPr marL="342352" lvl="1" indent="-171176" defTabSz="218725">
              <a:spcBef>
                <a:spcPts val="369"/>
              </a:spcBef>
              <a:defRPr sz="2556"/>
            </a:pPr>
            <a:r>
              <a:t>XrML (ContentGuard)</a:t>
            </a:r>
          </a:p>
          <a:p>
            <a:pPr marL="342352" lvl="1" indent="-171176" defTabSz="218725">
              <a:spcBef>
                <a:spcPts val="369"/>
              </a:spcBef>
              <a:defRPr sz="2556"/>
            </a:pPr>
            <a:r>
              <a:t>ODRL (Open group)</a:t>
            </a:r>
          </a:p>
          <a:p>
            <a:pPr marL="171176" indent="-171176" defTabSz="218725">
              <a:spcBef>
                <a:spcPts val="580"/>
              </a:spcBef>
              <a:defRPr sz="2556"/>
            </a:pPr>
            <a:r>
              <a:t>Standardisation</a:t>
            </a:r>
          </a:p>
          <a:p>
            <a:pPr marL="342352" lvl="1" indent="-171176" defTabSz="218725">
              <a:spcBef>
                <a:spcPts val="580"/>
              </a:spcBef>
              <a:buSzPct val="75000"/>
              <a:defRPr sz="2556"/>
            </a:pPr>
            <a:r>
              <a:rPr lang="es-ES" sz="1917"/>
              <a:t>ISO/IEC 21000 (</a:t>
            </a:r>
            <a:r>
              <a:t>MPEG-21</a:t>
            </a:r>
            <a:r>
              <a:rPr lang="es-ES"/>
              <a:t>)</a:t>
            </a:r>
            <a:r>
              <a:t> </a:t>
            </a:r>
            <a:endParaRPr lang="es-ES"/>
          </a:p>
          <a:p>
            <a:pPr marL="642389" lvl="2" indent="-171176" defTabSz="218725">
              <a:spcBef>
                <a:spcPts val="225"/>
              </a:spcBef>
              <a:buSzPct val="75000"/>
              <a:defRPr sz="2556"/>
            </a:pPr>
            <a:r>
              <a:t>Part 5</a:t>
            </a:r>
            <a:r>
              <a:rPr lang="es-ES"/>
              <a:t> </a:t>
            </a:r>
            <a:r>
              <a:rPr lang="es-ES" b="1">
                <a:solidFill>
                  <a:schemeClr val="tx1"/>
                </a:solidFill>
              </a:rPr>
              <a:t>Rights Expression Language</a:t>
            </a:r>
            <a:r>
              <a:rPr lang="es-ES">
                <a:solidFill>
                  <a:schemeClr val="tx1"/>
                </a:solidFill>
              </a:rPr>
              <a:t> </a:t>
            </a:r>
            <a:r>
              <a:rPr lang="es-ES"/>
              <a:t>(2004)</a:t>
            </a:r>
          </a:p>
          <a:p>
            <a:pPr marL="642389" lvl="2" indent="-171176" defTabSz="218725">
              <a:spcBef>
                <a:spcPts val="225"/>
              </a:spcBef>
              <a:buSzPct val="75000"/>
              <a:defRPr sz="2556"/>
            </a:pPr>
            <a:r>
              <a:rPr lang="es-ES"/>
              <a:t>Part </a:t>
            </a:r>
            <a:r>
              <a:t>6</a:t>
            </a:r>
            <a:r>
              <a:rPr lang="es-ES"/>
              <a:t> Rights Data Dictionary (2004)</a:t>
            </a:r>
          </a:p>
          <a:p>
            <a:pPr marL="642389" lvl="2" indent="-171176" defTabSz="218725">
              <a:spcBef>
                <a:spcPts val="225"/>
              </a:spcBef>
              <a:buSzPct val="75000"/>
              <a:defRPr sz="2556"/>
            </a:pPr>
            <a:r>
              <a:rPr lang="es-ES"/>
              <a:t>Part 19</a:t>
            </a:r>
            <a:r>
              <a:t> </a:t>
            </a:r>
            <a:r>
              <a:rPr lang="es-ES"/>
              <a:t>Media Value Chain Ontology (2010)</a:t>
            </a:r>
          </a:p>
          <a:p>
            <a:pPr marL="642389" lvl="2" indent="-171176" defTabSz="218725">
              <a:spcBef>
                <a:spcPts val="225"/>
              </a:spcBef>
              <a:buSzPct val="75000"/>
              <a:defRPr sz="2556"/>
            </a:pPr>
            <a:r>
              <a:rPr lang="es-ES"/>
              <a:t>Part 20 Contracts Expression Language (2013)</a:t>
            </a:r>
          </a:p>
          <a:p>
            <a:pPr marL="642389" lvl="2" indent="-171176" defTabSz="218725">
              <a:spcBef>
                <a:spcPts val="225"/>
              </a:spcBef>
              <a:buSzPct val="75000"/>
              <a:defRPr sz="2556"/>
            </a:pPr>
            <a:r>
              <a:rPr lang="es-ES" sz="1917"/>
              <a:t>Part 21 Media Contracts Ontology</a:t>
            </a:r>
          </a:p>
          <a:p>
            <a:pPr marL="642389" lvl="2" indent="-171176" defTabSz="218725">
              <a:spcBef>
                <a:spcPts val="225"/>
              </a:spcBef>
              <a:buSzPct val="75000"/>
              <a:defRPr sz="2556"/>
            </a:pPr>
            <a:r>
              <a:rPr lang="es-ES" sz="1917"/>
              <a:t>Part 23 Smart Contracts for Media (2022)</a:t>
            </a:r>
            <a:endParaRPr sz="1917"/>
          </a:p>
          <a:p>
            <a:pPr marL="342352" lvl="1" indent="-171176" defTabSz="218725">
              <a:spcBef>
                <a:spcPts val="580"/>
              </a:spcBef>
              <a:buSzPct val="75000"/>
              <a:defRPr sz="2556"/>
            </a:pPr>
            <a:r>
              <a:rPr lang="es-ES"/>
              <a:t>Others: IEEE/IMS Learning Content, </a:t>
            </a:r>
            <a:r>
              <a:t>OASIS</a:t>
            </a:r>
            <a:r>
              <a:rPr lang="es-ES"/>
              <a:t>, </a:t>
            </a:r>
            <a:r>
              <a:t>Open eBook Forum</a:t>
            </a:r>
            <a:r>
              <a:rPr lang="es-ES"/>
              <a:t>, </a:t>
            </a:r>
            <a:r>
              <a:t>OM</a:t>
            </a:r>
            <a:r>
              <a:rPr lang="es-ES"/>
              <a:t>A, </a:t>
            </a:r>
            <a:r>
              <a:t>Editeur ONIX Books</a:t>
            </a:r>
            <a:r>
              <a:rPr lang="es-ES"/>
              <a:t>, </a:t>
            </a:r>
            <a:r>
              <a:t>PRISM</a:t>
            </a:r>
            <a:r>
              <a:rPr lang="es-ES"/>
              <a:t>, </a:t>
            </a:r>
            <a:r>
              <a:t>PLUS Photo</a:t>
            </a:r>
            <a:r>
              <a:rPr lang="es-ES"/>
              <a:t>, </a:t>
            </a:r>
            <a:r>
              <a:t>Creative Commons (ccREL)</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BBB6CB1-C709-43BB-8A72-D73DE6AC363F}"/>
              </a:ext>
            </a:extLst>
          </p:cNvPr>
          <p:cNvSpPr>
            <a:spLocks noGrp="1"/>
          </p:cNvSpPr>
          <p:nvPr>
            <p:ph type="title"/>
          </p:nvPr>
        </p:nvSpPr>
        <p:spPr/>
        <p:txBody>
          <a:bodyPr/>
          <a:lstStyle/>
          <a:p>
            <a:r>
              <a:rPr lang="es-ES"/>
              <a:t>History of ODRL (2001-2011)</a:t>
            </a:r>
          </a:p>
        </p:txBody>
      </p:sp>
      <p:sp>
        <p:nvSpPr>
          <p:cNvPr id="3" name="Marcador de contenido 2">
            <a:extLst>
              <a:ext uri="{FF2B5EF4-FFF2-40B4-BE49-F238E27FC236}">
                <a16:creationId xmlns:a16="http://schemas.microsoft.com/office/drawing/2014/main" id="{B2698A3F-ACB8-4C71-A7CD-60B0396A0224}"/>
              </a:ext>
            </a:extLst>
          </p:cNvPr>
          <p:cNvSpPr>
            <a:spLocks noGrp="1"/>
          </p:cNvSpPr>
          <p:nvPr>
            <p:ph idx="1"/>
          </p:nvPr>
        </p:nvSpPr>
        <p:spPr>
          <a:xfrm>
            <a:off x="859" y="1480477"/>
            <a:ext cx="8229600" cy="4363886"/>
          </a:xfrm>
        </p:spPr>
        <p:txBody>
          <a:bodyPr/>
          <a:lstStyle/>
          <a:p>
            <a:r>
              <a:rPr lang="es-ES" sz="2400"/>
              <a:t>ODRL Initiative</a:t>
            </a:r>
          </a:p>
          <a:p>
            <a:pPr lvl="1"/>
            <a:r>
              <a:rPr lang="es-ES" sz="2100"/>
              <a:t>https://odrl.net</a:t>
            </a:r>
          </a:p>
          <a:p>
            <a:pPr lvl="1"/>
            <a:r>
              <a:rPr lang="es-ES" sz="2100"/>
              <a:t>2001 Jan W3C DRM Workshop</a:t>
            </a:r>
            <a:endParaRPr lang="es-ES"/>
          </a:p>
          <a:p>
            <a:pPr lvl="2"/>
            <a:r>
              <a:rPr lang="es-ES"/>
              <a:t>https://www.w3.org/2000/12/drm-ws/</a:t>
            </a:r>
          </a:p>
          <a:p>
            <a:pPr lvl="1"/>
            <a:r>
              <a:rPr lang="es-ES" sz="2100" b="1">
                <a:solidFill>
                  <a:srgbClr val="C00000"/>
                </a:solidFill>
              </a:rPr>
              <a:t>2001 Nov </a:t>
            </a:r>
            <a:r>
              <a:rPr lang="en-US" sz="2100">
                <a:solidFill>
                  <a:srgbClr val="C00000"/>
                </a:solidFill>
              </a:rPr>
              <a:t>ODRL 1.0</a:t>
            </a:r>
            <a:endParaRPr lang="es-ES" sz="2100">
              <a:solidFill>
                <a:srgbClr val="C00000"/>
              </a:solidFill>
            </a:endParaRPr>
          </a:p>
          <a:p>
            <a:pPr lvl="1"/>
            <a:r>
              <a:rPr lang="es-ES" sz="2100" b="1">
                <a:solidFill>
                  <a:srgbClr val="C00000"/>
                </a:solidFill>
              </a:rPr>
              <a:t>2002 Sep </a:t>
            </a:r>
            <a:r>
              <a:rPr lang="es-ES" sz="2100">
                <a:solidFill>
                  <a:srgbClr val="C00000"/>
                </a:solidFill>
              </a:rPr>
              <a:t>W3C Note ODRL V1.1</a:t>
            </a:r>
          </a:p>
          <a:p>
            <a:pPr lvl="2"/>
            <a:r>
              <a:rPr lang="es-ES"/>
              <a:t>http://www.w3.org/TR/odrl/</a:t>
            </a:r>
          </a:p>
          <a:p>
            <a:pPr lvl="2"/>
            <a:r>
              <a:rPr lang="es-ES"/>
              <a:t>ODRL Profiles</a:t>
            </a:r>
          </a:p>
          <a:p>
            <a:pPr lvl="3"/>
            <a:r>
              <a:rPr lang="es-ES"/>
              <a:t>Creative Commons, Service-Oriented Computing</a:t>
            </a:r>
          </a:p>
          <a:p>
            <a:pPr lvl="3"/>
            <a:r>
              <a:rPr lang="es-ES"/>
              <a:t>Dublin Core, Geospatial</a:t>
            </a:r>
          </a:p>
          <a:p>
            <a:pPr lvl="2"/>
            <a:r>
              <a:rPr lang="es-ES"/>
              <a:t>Adopted by Open Mobile Alliance (</a:t>
            </a:r>
            <a:r>
              <a:rPr lang="es-ES" b="1"/>
              <a:t>OMA</a:t>
            </a:r>
            <a:r>
              <a:rPr lang="es-ES"/>
              <a:t>) - Part of DRM in Mobile handsets</a:t>
            </a:r>
          </a:p>
          <a:p>
            <a:pPr lvl="2"/>
            <a:r>
              <a:rPr lang="es-ES"/>
              <a:t>ODRL V2 Requirements and Early Drafts of Version 2.0</a:t>
            </a:r>
          </a:p>
          <a:p>
            <a:pPr lvl="2"/>
            <a:r>
              <a:rPr lang="es-ES"/>
              <a:t>Ten international ODRL workshops</a:t>
            </a:r>
          </a:p>
          <a:p>
            <a:pPr lvl="3"/>
            <a:r>
              <a:rPr lang="en-US"/>
              <a:t>2011.09.29-30 SeptVirtual Goods + ODRL Workshop, </a:t>
            </a:r>
            <a:r>
              <a:rPr lang="en-US" b="1"/>
              <a:t>Barcelona</a:t>
            </a:r>
            <a:r>
              <a:rPr lang="en-US"/>
              <a:t>, Spain</a:t>
            </a:r>
            <a:endParaRPr lang="es-ES"/>
          </a:p>
        </p:txBody>
      </p:sp>
      <p:sp>
        <p:nvSpPr>
          <p:cNvPr id="4" name="Marcador de número de diapositiva 3">
            <a:extLst>
              <a:ext uri="{FF2B5EF4-FFF2-40B4-BE49-F238E27FC236}">
                <a16:creationId xmlns:a16="http://schemas.microsoft.com/office/drawing/2014/main" id="{B46B5642-C747-4354-80C8-8BA208A11DF8}"/>
              </a:ext>
            </a:extLst>
          </p:cNvPr>
          <p:cNvSpPr>
            <a:spLocks noGrp="1"/>
          </p:cNvSpPr>
          <p:nvPr>
            <p:ph type="sldNum" sz="quarter" idx="12"/>
          </p:nvPr>
        </p:nvSpPr>
        <p:spPr/>
        <p:txBody>
          <a:bodyPr/>
          <a:lstStyle/>
          <a:p>
            <a:fld id="{6B5A57B2-1EBD-4091-B82A-048719E51FB6}" type="slidenum">
              <a:rPr lang="es-ES" smtClean="0"/>
              <a:pPr/>
              <a:t>38</a:t>
            </a:fld>
            <a:endParaRPr lang="es-ES"/>
          </a:p>
        </p:txBody>
      </p:sp>
      <p:grpSp>
        <p:nvGrpSpPr>
          <p:cNvPr id="5" name="Group 85">
            <a:extLst>
              <a:ext uri="{FF2B5EF4-FFF2-40B4-BE49-F238E27FC236}">
                <a16:creationId xmlns:a16="http://schemas.microsoft.com/office/drawing/2014/main" id="{CC072E06-C17F-44BB-B500-2B9C2EAB5A50}"/>
              </a:ext>
            </a:extLst>
          </p:cNvPr>
          <p:cNvGrpSpPr/>
          <p:nvPr/>
        </p:nvGrpSpPr>
        <p:grpSpPr>
          <a:xfrm>
            <a:off x="5585552" y="1435994"/>
            <a:ext cx="3334361" cy="1833950"/>
            <a:chOff x="0" y="0"/>
            <a:chExt cx="5320749" cy="2932510"/>
          </a:xfrm>
        </p:grpSpPr>
        <p:pic>
          <p:nvPicPr>
            <p:cNvPr id="6" name="Screen Shot 2016-09-05 at 17.35.12.png">
              <a:extLst>
                <a:ext uri="{FF2B5EF4-FFF2-40B4-BE49-F238E27FC236}">
                  <a16:creationId xmlns:a16="http://schemas.microsoft.com/office/drawing/2014/main" id="{FDB4F219-D918-442B-8BA9-6C285BC7A8F8}"/>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65100" y="114300"/>
              <a:ext cx="4990550" cy="2500711"/>
            </a:xfrm>
            <a:prstGeom prst="rect">
              <a:avLst/>
            </a:prstGeom>
            <a:ln>
              <a:noFill/>
            </a:ln>
            <a:effectLst/>
          </p:spPr>
        </p:pic>
        <p:pic>
          <p:nvPicPr>
            <p:cNvPr id="7" name="Picture 82">
              <a:extLst>
                <a:ext uri="{FF2B5EF4-FFF2-40B4-BE49-F238E27FC236}">
                  <a16:creationId xmlns:a16="http://schemas.microsoft.com/office/drawing/2014/main" id="{0C8A399D-8113-4C30-B3AF-44CD2AE7C6B3}"/>
                </a:ext>
              </a:extLst>
            </p:cNvPr>
            <p:cNvPicPr>
              <a:picLocks/>
            </p:cNvPicPr>
            <p:nvPr/>
          </p:nvPicPr>
          <p:blipFill>
            <a:blip r:embed="rId4"/>
            <a:stretch>
              <a:fillRect/>
            </a:stretch>
          </p:blipFill>
          <p:spPr>
            <a:xfrm>
              <a:off x="0" y="0"/>
              <a:ext cx="5320750" cy="2932511"/>
            </a:xfrm>
            <a:prstGeom prst="rect">
              <a:avLst/>
            </a:prstGeom>
            <a:effectLst/>
          </p:spPr>
        </p:pic>
      </p:grpSp>
      <p:pic>
        <p:nvPicPr>
          <p:cNvPr id="8" name="pasted-image.png">
            <a:extLst>
              <a:ext uri="{FF2B5EF4-FFF2-40B4-BE49-F238E27FC236}">
                <a16:creationId xmlns:a16="http://schemas.microsoft.com/office/drawing/2014/main" id="{29D3083F-FD54-4338-92A0-AF0543494203}"/>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7195796" y="1482462"/>
            <a:ext cx="384794" cy="200440"/>
          </a:xfrm>
          <a:prstGeom prst="rect">
            <a:avLst/>
          </a:prstGeom>
          <a:ln w="12700">
            <a:miter lim="400000"/>
          </a:ln>
        </p:spPr>
      </p:pic>
      <p:pic>
        <p:nvPicPr>
          <p:cNvPr id="9" name="pasted-image.png">
            <a:extLst>
              <a:ext uri="{FF2B5EF4-FFF2-40B4-BE49-F238E27FC236}">
                <a16:creationId xmlns:a16="http://schemas.microsoft.com/office/drawing/2014/main" id="{8CF43970-6A6E-4D90-ACB6-DFD39128E43E}"/>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8230459" y="1513109"/>
            <a:ext cx="587207" cy="139143"/>
          </a:xfrm>
          <a:prstGeom prst="rect">
            <a:avLst/>
          </a:prstGeom>
          <a:ln w="12700">
            <a:miter lim="400000"/>
          </a:ln>
        </p:spPr>
      </p:pic>
      <p:sp>
        <p:nvSpPr>
          <p:cNvPr id="10" name="CuadroTexto 9">
            <a:extLst>
              <a:ext uri="{FF2B5EF4-FFF2-40B4-BE49-F238E27FC236}">
                <a16:creationId xmlns:a16="http://schemas.microsoft.com/office/drawing/2014/main" id="{57C9C378-FF18-4354-B3DC-18939108BB79}"/>
              </a:ext>
            </a:extLst>
          </p:cNvPr>
          <p:cNvSpPr txBox="1"/>
          <p:nvPr/>
        </p:nvSpPr>
        <p:spPr>
          <a:xfrm>
            <a:off x="7796035" y="5793000"/>
            <a:ext cx="1293944" cy="230832"/>
          </a:xfrm>
          <a:prstGeom prst="rect">
            <a:avLst/>
          </a:prstGeom>
          <a:noFill/>
        </p:spPr>
        <p:txBody>
          <a:bodyPr wrap="none" rtlCol="0">
            <a:spAutoFit/>
          </a:bodyPr>
          <a:lstStyle/>
          <a:p>
            <a:r>
              <a:rPr lang="es-ES" sz="900"/>
              <a:t>Adapted from R. Ianella</a:t>
            </a:r>
          </a:p>
        </p:txBody>
      </p:sp>
    </p:spTree>
    <p:extLst>
      <p:ext uri="{BB962C8B-B14F-4D97-AF65-F5344CB8AC3E}">
        <p14:creationId xmlns:p14="http://schemas.microsoft.com/office/powerpoint/2010/main" val="385028645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D0EE0CD-8C74-4839-BCAF-3CCDAD4C44DE}"/>
              </a:ext>
            </a:extLst>
          </p:cNvPr>
          <p:cNvSpPr>
            <a:spLocks noGrp="1"/>
          </p:cNvSpPr>
          <p:nvPr>
            <p:ph type="title"/>
          </p:nvPr>
        </p:nvSpPr>
        <p:spPr/>
        <p:txBody>
          <a:bodyPr/>
          <a:lstStyle/>
          <a:p>
            <a:r>
              <a:rPr lang="es-ES"/>
              <a:t>ODRL 1.0</a:t>
            </a:r>
          </a:p>
        </p:txBody>
      </p:sp>
      <p:sp>
        <p:nvSpPr>
          <p:cNvPr id="4" name="Marcador de número de diapositiva 3">
            <a:extLst>
              <a:ext uri="{FF2B5EF4-FFF2-40B4-BE49-F238E27FC236}">
                <a16:creationId xmlns:a16="http://schemas.microsoft.com/office/drawing/2014/main" id="{D2FD81D8-70C6-4B7E-829F-ED3B8DC85A24}"/>
              </a:ext>
            </a:extLst>
          </p:cNvPr>
          <p:cNvSpPr>
            <a:spLocks noGrp="1"/>
          </p:cNvSpPr>
          <p:nvPr>
            <p:ph type="sldNum" sz="quarter" idx="12"/>
          </p:nvPr>
        </p:nvSpPr>
        <p:spPr/>
        <p:txBody>
          <a:bodyPr/>
          <a:lstStyle/>
          <a:p>
            <a:fld id="{6B5A57B2-1EBD-4091-B82A-048719E51FB6}" type="slidenum">
              <a:rPr lang="es-ES" smtClean="0"/>
              <a:pPr/>
              <a:t>39</a:t>
            </a:fld>
            <a:endParaRPr lang="es-ES"/>
          </a:p>
        </p:txBody>
      </p:sp>
      <p:pic>
        <p:nvPicPr>
          <p:cNvPr id="5" name="Imagen 4">
            <a:extLst>
              <a:ext uri="{FF2B5EF4-FFF2-40B4-BE49-F238E27FC236}">
                <a16:creationId xmlns:a16="http://schemas.microsoft.com/office/drawing/2014/main" id="{AE2C4A44-8227-4C40-BEF7-FBC6B4C3E2BF}"/>
              </a:ext>
            </a:extLst>
          </p:cNvPr>
          <p:cNvPicPr>
            <a:picLocks noChangeAspect="1"/>
          </p:cNvPicPr>
          <p:nvPr/>
        </p:nvPicPr>
        <p:blipFill>
          <a:blip r:embed="rId2"/>
          <a:stretch>
            <a:fillRect/>
          </a:stretch>
        </p:blipFill>
        <p:spPr>
          <a:xfrm>
            <a:off x="1251240" y="1271319"/>
            <a:ext cx="6080996" cy="4798011"/>
          </a:xfrm>
          <a:prstGeom prst="rect">
            <a:avLst/>
          </a:prstGeom>
        </p:spPr>
      </p:pic>
    </p:spTree>
    <p:extLst>
      <p:ext uri="{BB962C8B-B14F-4D97-AF65-F5344CB8AC3E}">
        <p14:creationId xmlns:p14="http://schemas.microsoft.com/office/powerpoint/2010/main" val="128631955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78AAB8-EFDC-49C9-BAD2-FBBB822490E6}"/>
              </a:ext>
            </a:extLst>
          </p:cNvPr>
          <p:cNvSpPr>
            <a:spLocks noGrp="1"/>
          </p:cNvSpPr>
          <p:nvPr>
            <p:ph type="title"/>
          </p:nvPr>
        </p:nvSpPr>
        <p:spPr/>
        <p:txBody>
          <a:bodyPr/>
          <a:lstStyle/>
          <a:p>
            <a:r>
              <a:rPr lang="es-ES"/>
              <a:t>Common pattern</a:t>
            </a:r>
          </a:p>
        </p:txBody>
      </p:sp>
      <p:sp>
        <p:nvSpPr>
          <p:cNvPr id="4" name="Marcador de número de diapositiva 3">
            <a:extLst>
              <a:ext uri="{FF2B5EF4-FFF2-40B4-BE49-F238E27FC236}">
                <a16:creationId xmlns:a16="http://schemas.microsoft.com/office/drawing/2014/main" id="{EB297373-B9A8-4787-BA20-33191D96D4F9}"/>
              </a:ext>
            </a:extLst>
          </p:cNvPr>
          <p:cNvSpPr>
            <a:spLocks noGrp="1"/>
          </p:cNvSpPr>
          <p:nvPr>
            <p:ph type="sldNum" sz="quarter" idx="12"/>
          </p:nvPr>
        </p:nvSpPr>
        <p:spPr/>
        <p:txBody>
          <a:bodyPr/>
          <a:lstStyle/>
          <a:p>
            <a:fld id="{6B5A57B2-1EBD-4091-B82A-048719E51FB6}" type="slidenum">
              <a:rPr lang="es-ES" smtClean="0"/>
              <a:pPr/>
              <a:t>40</a:t>
            </a:fld>
            <a:endParaRPr lang="es-ES"/>
          </a:p>
        </p:txBody>
      </p:sp>
      <p:pic>
        <p:nvPicPr>
          <p:cNvPr id="5" name="Imagen 4">
            <a:extLst>
              <a:ext uri="{FF2B5EF4-FFF2-40B4-BE49-F238E27FC236}">
                <a16:creationId xmlns:a16="http://schemas.microsoft.com/office/drawing/2014/main" id="{7C97555F-6D3C-48E1-A58A-AD217238E007}"/>
              </a:ext>
            </a:extLst>
          </p:cNvPr>
          <p:cNvPicPr>
            <a:picLocks noChangeAspect="1"/>
          </p:cNvPicPr>
          <p:nvPr/>
        </p:nvPicPr>
        <p:blipFill>
          <a:blip r:embed="rId2"/>
          <a:stretch>
            <a:fillRect/>
          </a:stretch>
        </p:blipFill>
        <p:spPr>
          <a:xfrm>
            <a:off x="1089534" y="1271319"/>
            <a:ext cx="7147879" cy="4581830"/>
          </a:xfrm>
          <a:prstGeom prst="rect">
            <a:avLst/>
          </a:prstGeom>
        </p:spPr>
      </p:pic>
    </p:spTree>
    <p:extLst>
      <p:ext uri="{BB962C8B-B14F-4D97-AF65-F5344CB8AC3E}">
        <p14:creationId xmlns:p14="http://schemas.microsoft.com/office/powerpoint/2010/main" val="402836176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CFE2C1C-8B20-4830-B619-E219C9C87DCA}"/>
              </a:ext>
            </a:extLst>
          </p:cNvPr>
          <p:cNvSpPr>
            <a:spLocks noGrp="1"/>
          </p:cNvSpPr>
          <p:nvPr>
            <p:ph type="title"/>
          </p:nvPr>
        </p:nvSpPr>
        <p:spPr/>
        <p:txBody>
          <a:bodyPr/>
          <a:lstStyle/>
          <a:p>
            <a:r>
              <a:rPr lang="en-US"/>
              <a:t>History of ODRL (2012 - 2016): ODRL W3C Community Group</a:t>
            </a:r>
            <a:endParaRPr lang="es-ES"/>
          </a:p>
        </p:txBody>
      </p:sp>
      <p:sp>
        <p:nvSpPr>
          <p:cNvPr id="3" name="Marcador de contenido 2">
            <a:extLst>
              <a:ext uri="{FF2B5EF4-FFF2-40B4-BE49-F238E27FC236}">
                <a16:creationId xmlns:a16="http://schemas.microsoft.com/office/drawing/2014/main" id="{FACEB561-4304-4BA8-BB43-9931D6D337C8}"/>
              </a:ext>
            </a:extLst>
          </p:cNvPr>
          <p:cNvSpPr>
            <a:spLocks noGrp="1"/>
          </p:cNvSpPr>
          <p:nvPr>
            <p:ph idx="1"/>
          </p:nvPr>
        </p:nvSpPr>
        <p:spPr>
          <a:xfrm>
            <a:off x="202409" y="1504661"/>
            <a:ext cx="8229600" cy="3394472"/>
          </a:xfrm>
        </p:spPr>
        <p:txBody>
          <a:bodyPr/>
          <a:lstStyle/>
          <a:p>
            <a:r>
              <a:rPr lang="es-ES" sz="2400"/>
              <a:t>W3C ODRL Community Group</a:t>
            </a:r>
          </a:p>
          <a:p>
            <a:pPr lvl="1"/>
            <a:r>
              <a:rPr lang="es-ES"/>
              <a:t>https://www.w3.org/community/odrl/ </a:t>
            </a:r>
          </a:p>
          <a:p>
            <a:pPr lvl="1"/>
            <a:r>
              <a:rPr lang="es-ES"/>
              <a:t>53 participants</a:t>
            </a:r>
          </a:p>
          <a:p>
            <a:pPr lvl="1"/>
            <a:r>
              <a:rPr lang="es-ES" sz="2100" b="1">
                <a:solidFill>
                  <a:srgbClr val="C00000"/>
                </a:solidFill>
              </a:rPr>
              <a:t>2014 May </a:t>
            </a:r>
            <a:r>
              <a:rPr lang="es-ES" sz="2100">
                <a:solidFill>
                  <a:srgbClr val="C00000"/>
                </a:solidFill>
              </a:rPr>
              <a:t>ODRL 2.0 W3C Community Group spec</a:t>
            </a:r>
          </a:p>
          <a:p>
            <a:pPr lvl="2"/>
            <a:r>
              <a:rPr lang="en-US"/>
              <a:t>Open Digital Rights Language (ODRL) Ontology (Mc Roberts, Rodríguez-Doncel)</a:t>
            </a:r>
          </a:p>
          <a:p>
            <a:pPr lvl="2"/>
            <a:r>
              <a:rPr lang="es-ES"/>
              <a:t>JSON and Ontology encodings</a:t>
            </a:r>
          </a:p>
          <a:p>
            <a:pPr lvl="1"/>
            <a:r>
              <a:rPr lang="es-ES" sz="2100" b="1">
                <a:solidFill>
                  <a:srgbClr val="C00000"/>
                </a:solidFill>
              </a:rPr>
              <a:t>2015 Mar </a:t>
            </a:r>
            <a:r>
              <a:rPr lang="es-ES" sz="2100">
                <a:solidFill>
                  <a:srgbClr val="C00000"/>
                </a:solidFill>
              </a:rPr>
              <a:t>ODRL 2.1 W3C Community Group spec</a:t>
            </a:r>
          </a:p>
          <a:p>
            <a:pPr lvl="2"/>
            <a:r>
              <a:rPr lang="es-ES"/>
              <a:t>Legal review of all terms over 2.0</a:t>
            </a:r>
          </a:p>
          <a:p>
            <a:pPr lvl="2"/>
            <a:r>
              <a:rPr lang="es-ES"/>
              <a:t>RightML Profile (International Press Telecommunications Council)</a:t>
            </a:r>
            <a:endParaRPr lang="en-US"/>
          </a:p>
          <a:p>
            <a:pPr lvl="2"/>
            <a:r>
              <a:rPr lang="en-US"/>
              <a:t>Open Digital Rights Language (ODRL) Ontology (Mc Roberts, Rodríguez-Doncel)</a:t>
            </a:r>
          </a:p>
          <a:p>
            <a:pPr lvl="2"/>
            <a:r>
              <a:rPr lang="es-ES"/>
              <a:t>Implementations (10+)</a:t>
            </a:r>
          </a:p>
          <a:p>
            <a:pPr lvl="2"/>
            <a:r>
              <a:rPr lang="es-ES"/>
              <a:t>https://www.w3.org/community/odrl/implementations/</a:t>
            </a:r>
          </a:p>
          <a:p>
            <a:pPr marL="0" indent="0">
              <a:buNone/>
            </a:pPr>
            <a:endParaRPr lang="es-ES"/>
          </a:p>
        </p:txBody>
      </p:sp>
      <p:sp>
        <p:nvSpPr>
          <p:cNvPr id="4" name="Marcador de número de diapositiva 3">
            <a:extLst>
              <a:ext uri="{FF2B5EF4-FFF2-40B4-BE49-F238E27FC236}">
                <a16:creationId xmlns:a16="http://schemas.microsoft.com/office/drawing/2014/main" id="{87341F3A-AD8D-4721-A878-6E83C6AD3119}"/>
              </a:ext>
            </a:extLst>
          </p:cNvPr>
          <p:cNvSpPr>
            <a:spLocks noGrp="1"/>
          </p:cNvSpPr>
          <p:nvPr>
            <p:ph type="sldNum" sz="quarter" idx="12"/>
          </p:nvPr>
        </p:nvSpPr>
        <p:spPr/>
        <p:txBody>
          <a:bodyPr/>
          <a:lstStyle/>
          <a:p>
            <a:fld id="{6B5A57B2-1EBD-4091-B82A-048719E51FB6}" type="slidenum">
              <a:rPr lang="es-ES" smtClean="0"/>
              <a:pPr/>
              <a:t>41</a:t>
            </a:fld>
            <a:endParaRPr lang="es-ES"/>
          </a:p>
        </p:txBody>
      </p:sp>
    </p:spTree>
    <p:extLst>
      <p:ext uri="{BB962C8B-B14F-4D97-AF65-F5344CB8AC3E}">
        <p14:creationId xmlns:p14="http://schemas.microsoft.com/office/powerpoint/2010/main" val="129158738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CFE2C1C-8B20-4830-B619-E219C9C87DCA}"/>
              </a:ext>
            </a:extLst>
          </p:cNvPr>
          <p:cNvSpPr>
            <a:spLocks noGrp="1"/>
          </p:cNvSpPr>
          <p:nvPr>
            <p:ph type="title"/>
          </p:nvPr>
        </p:nvSpPr>
        <p:spPr/>
        <p:txBody>
          <a:bodyPr/>
          <a:lstStyle/>
          <a:p>
            <a:r>
              <a:rPr lang="en-US"/>
              <a:t>History of ODRL (2016 - 2018): </a:t>
            </a:r>
            <a:r>
              <a:rPr lang="en-US" sz="1800"/>
              <a:t>W3C Permissions and Obligations Working Group</a:t>
            </a:r>
            <a:endParaRPr lang="es-ES"/>
          </a:p>
        </p:txBody>
      </p:sp>
      <p:sp>
        <p:nvSpPr>
          <p:cNvPr id="3" name="Marcador de contenido 2">
            <a:extLst>
              <a:ext uri="{FF2B5EF4-FFF2-40B4-BE49-F238E27FC236}">
                <a16:creationId xmlns:a16="http://schemas.microsoft.com/office/drawing/2014/main" id="{FACEB561-4304-4BA8-BB43-9931D6D337C8}"/>
              </a:ext>
            </a:extLst>
          </p:cNvPr>
          <p:cNvSpPr>
            <a:spLocks noGrp="1"/>
          </p:cNvSpPr>
          <p:nvPr>
            <p:ph idx="1"/>
          </p:nvPr>
        </p:nvSpPr>
        <p:spPr>
          <a:xfrm>
            <a:off x="202409" y="1504660"/>
            <a:ext cx="8622102" cy="4268867"/>
          </a:xfrm>
        </p:spPr>
        <p:txBody>
          <a:bodyPr/>
          <a:lstStyle/>
          <a:p>
            <a:r>
              <a:rPr lang="es-ES" sz="2400"/>
              <a:t>W3C Permissions and Obligations Working Group</a:t>
            </a:r>
          </a:p>
          <a:p>
            <a:pPr lvl="1"/>
            <a:r>
              <a:rPr lang="es-ES"/>
              <a:t>https://www.w3.org/2016/poe/</a:t>
            </a:r>
          </a:p>
          <a:p>
            <a:pPr lvl="1"/>
            <a:r>
              <a:rPr lang="en-US"/>
              <a:t>22 Members + 3 Invited Experts</a:t>
            </a:r>
          </a:p>
          <a:p>
            <a:pPr lvl="1"/>
            <a:r>
              <a:rPr lang="en-US"/>
              <a:t>ODRL Community Group Specifications were the </a:t>
            </a:r>
            <a:r>
              <a:rPr lang="en-US" b="1"/>
              <a:t>baseline</a:t>
            </a:r>
            <a:r>
              <a:rPr lang="en-US"/>
              <a:t> for the TRs</a:t>
            </a:r>
            <a:endParaRPr lang="es-ES"/>
          </a:p>
          <a:p>
            <a:pPr lvl="1"/>
            <a:r>
              <a:rPr lang="es-ES" sz="2100" b="1">
                <a:solidFill>
                  <a:srgbClr val="C00000"/>
                </a:solidFill>
              </a:rPr>
              <a:t>2018 Feb </a:t>
            </a:r>
            <a:r>
              <a:rPr lang="es-ES" sz="2100">
                <a:solidFill>
                  <a:srgbClr val="C00000"/>
                </a:solidFill>
              </a:rPr>
              <a:t>ODRL 2.2 W3C Recommendations</a:t>
            </a:r>
          </a:p>
          <a:p>
            <a:pPr lvl="2"/>
            <a:r>
              <a:rPr lang="es-ES"/>
              <a:t>ODRL Information Model 2.2 </a:t>
            </a:r>
          </a:p>
          <a:p>
            <a:pPr lvl="2"/>
            <a:r>
              <a:rPr lang="es-ES"/>
              <a:t>ODRL Vocabulary &amp; Expression 2.2</a:t>
            </a:r>
          </a:p>
          <a:p>
            <a:pPr lvl="2"/>
            <a:r>
              <a:rPr lang="en-US"/>
              <a:t>NOT in scope</a:t>
            </a:r>
          </a:p>
          <a:p>
            <a:pPr lvl="3"/>
            <a:r>
              <a:rPr lang="en-US"/>
              <a:t>Access control mechanisms</a:t>
            </a:r>
          </a:p>
          <a:p>
            <a:pPr lvl="3"/>
            <a:r>
              <a:rPr lang="en-US"/>
              <a:t>Digital rights management</a:t>
            </a:r>
          </a:p>
          <a:p>
            <a:pPr lvl="3"/>
            <a:r>
              <a:rPr lang="en-US"/>
              <a:t>Complete Rule language for combining statements</a:t>
            </a:r>
          </a:p>
          <a:p>
            <a:pPr lvl="3"/>
            <a:r>
              <a:rPr lang="en-US"/>
              <a:t>Enforcement mechanisms</a:t>
            </a:r>
          </a:p>
          <a:p>
            <a:pPr lvl="3"/>
            <a:r>
              <a:rPr lang="en-US"/>
              <a:t>Legal jurisdiction issues</a:t>
            </a:r>
            <a:endParaRPr lang="es-ES"/>
          </a:p>
          <a:p>
            <a:pPr lvl="2"/>
            <a:endParaRPr lang="es-ES"/>
          </a:p>
          <a:p>
            <a:endParaRPr lang="es-ES"/>
          </a:p>
        </p:txBody>
      </p:sp>
      <p:sp>
        <p:nvSpPr>
          <p:cNvPr id="4" name="Marcador de número de diapositiva 3">
            <a:extLst>
              <a:ext uri="{FF2B5EF4-FFF2-40B4-BE49-F238E27FC236}">
                <a16:creationId xmlns:a16="http://schemas.microsoft.com/office/drawing/2014/main" id="{87341F3A-AD8D-4721-A878-6E83C6AD3119}"/>
              </a:ext>
            </a:extLst>
          </p:cNvPr>
          <p:cNvSpPr>
            <a:spLocks noGrp="1"/>
          </p:cNvSpPr>
          <p:nvPr>
            <p:ph type="sldNum" sz="quarter" idx="12"/>
          </p:nvPr>
        </p:nvSpPr>
        <p:spPr/>
        <p:txBody>
          <a:bodyPr/>
          <a:lstStyle/>
          <a:p>
            <a:fld id="{6B5A57B2-1EBD-4091-B82A-048719E51FB6}" type="slidenum">
              <a:rPr lang="es-ES" smtClean="0"/>
              <a:pPr/>
              <a:t>42</a:t>
            </a:fld>
            <a:endParaRPr lang="es-ES"/>
          </a:p>
        </p:txBody>
      </p:sp>
      <p:sp>
        <p:nvSpPr>
          <p:cNvPr id="5" name="CuadroTexto 4">
            <a:extLst>
              <a:ext uri="{FF2B5EF4-FFF2-40B4-BE49-F238E27FC236}">
                <a16:creationId xmlns:a16="http://schemas.microsoft.com/office/drawing/2014/main" id="{1890E930-9431-43AC-8456-D7B45430F7C6}"/>
              </a:ext>
            </a:extLst>
          </p:cNvPr>
          <p:cNvSpPr txBox="1"/>
          <p:nvPr/>
        </p:nvSpPr>
        <p:spPr>
          <a:xfrm>
            <a:off x="0" y="5799119"/>
            <a:ext cx="1293944" cy="230832"/>
          </a:xfrm>
          <a:prstGeom prst="rect">
            <a:avLst/>
          </a:prstGeom>
          <a:noFill/>
        </p:spPr>
        <p:txBody>
          <a:bodyPr wrap="none" rtlCol="0">
            <a:spAutoFit/>
          </a:bodyPr>
          <a:lstStyle/>
          <a:p>
            <a:r>
              <a:rPr lang="es-ES" sz="900"/>
              <a:t>Adapted from R. Ianella</a:t>
            </a:r>
          </a:p>
        </p:txBody>
      </p:sp>
      <p:pic>
        <p:nvPicPr>
          <p:cNvPr id="6" name="Screen Shot 2016-09-07 at 12.50.30.png">
            <a:extLst>
              <a:ext uri="{FF2B5EF4-FFF2-40B4-BE49-F238E27FC236}">
                <a16:creationId xmlns:a16="http://schemas.microsoft.com/office/drawing/2014/main" id="{8A5B15AE-AB56-4BB6-9E3F-17274DB699AB}"/>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5714846" y="2885678"/>
            <a:ext cx="2949921" cy="3115071"/>
          </a:xfrm>
          <a:prstGeom prst="rect">
            <a:avLst/>
          </a:prstGeom>
          <a:ln w="12700">
            <a:miter lim="400000"/>
          </a:ln>
        </p:spPr>
      </p:pic>
    </p:spTree>
    <p:extLst>
      <p:ext uri="{BB962C8B-B14F-4D97-AF65-F5344CB8AC3E}">
        <p14:creationId xmlns:p14="http://schemas.microsoft.com/office/powerpoint/2010/main" val="99773703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D9D6EA-7CC9-4DE3-895D-FF2EF0BA3115}"/>
              </a:ext>
            </a:extLst>
          </p:cNvPr>
          <p:cNvSpPr>
            <a:spLocks noGrp="1"/>
          </p:cNvSpPr>
          <p:nvPr>
            <p:ph type="title"/>
          </p:nvPr>
        </p:nvSpPr>
        <p:spPr/>
        <p:txBody>
          <a:bodyPr/>
          <a:lstStyle/>
          <a:p>
            <a:r>
              <a:rPr lang="es-ES"/>
              <a:t>History of ODRL: From 2018 </a:t>
            </a:r>
          </a:p>
        </p:txBody>
      </p:sp>
      <p:sp>
        <p:nvSpPr>
          <p:cNvPr id="3" name="Marcador de contenido 2">
            <a:extLst>
              <a:ext uri="{FF2B5EF4-FFF2-40B4-BE49-F238E27FC236}">
                <a16:creationId xmlns:a16="http://schemas.microsoft.com/office/drawing/2014/main" id="{D0D6FEC7-A2A9-4443-B846-B7E7DDF391FA}"/>
              </a:ext>
            </a:extLst>
          </p:cNvPr>
          <p:cNvSpPr>
            <a:spLocks noGrp="1"/>
          </p:cNvSpPr>
          <p:nvPr>
            <p:ph idx="1"/>
          </p:nvPr>
        </p:nvSpPr>
        <p:spPr/>
        <p:txBody>
          <a:bodyPr/>
          <a:lstStyle/>
          <a:p>
            <a:r>
              <a:rPr lang="en-US"/>
              <a:t>Open documents at community level:</a:t>
            </a:r>
          </a:p>
          <a:p>
            <a:pPr lvl="1"/>
            <a:r>
              <a:rPr lang="en-US"/>
              <a:t>Profiles: Data Spaces, for Big Data, for Temporal Data</a:t>
            </a:r>
          </a:p>
          <a:p>
            <a:pPr lvl="1"/>
            <a:r>
              <a:rPr lang="en-US"/>
              <a:t>Formal Semantics, Implementation Best Practices.</a:t>
            </a:r>
          </a:p>
          <a:p>
            <a:r>
              <a:rPr lang="en-US"/>
              <a:t>Many other profiles:</a:t>
            </a:r>
          </a:p>
          <a:p>
            <a:pPr lvl="1"/>
            <a:r>
              <a:rPr lang="en-US"/>
              <a:t>Profile for using ODRL with Verifiable Credentials, related to GAIA-X</a:t>
            </a:r>
          </a:p>
          <a:p>
            <a:pPr lvl="1"/>
            <a:r>
              <a:rPr lang="en-US"/>
              <a:t>ODRL Profile for Access Control Policies in Solid</a:t>
            </a:r>
          </a:p>
          <a:p>
            <a:pPr lvl="1"/>
            <a:r>
              <a:rPr lang="en-US"/>
              <a:t>ODRL Profile for Data Sovereignty</a:t>
            </a:r>
          </a:p>
          <a:p>
            <a:pPr lvl="1"/>
            <a:r>
              <a:rPr lang="en-US"/>
              <a:t>IPTC RightsML Standard 2.0</a:t>
            </a:r>
          </a:p>
          <a:p>
            <a:pPr lvl="1"/>
            <a:r>
              <a:rPr lang="en-US"/>
              <a:t>ODRL Profile for Access Control</a:t>
            </a:r>
          </a:p>
          <a:p>
            <a:pPr lvl="1"/>
            <a:r>
              <a:rPr lang="en-US"/>
              <a:t>ODRL for Language Resources profile </a:t>
            </a:r>
          </a:p>
          <a:p>
            <a:pPr lvl="1"/>
            <a:r>
              <a:rPr lang="en-US"/>
              <a:t>Regulatory compliance Profile</a:t>
            </a:r>
          </a:p>
          <a:p>
            <a:pPr lvl="1"/>
            <a:r>
              <a:rPr lang="en-US"/>
              <a:t>Privacy Paradigm ODRL Profile</a:t>
            </a:r>
            <a:endParaRPr lang="es-ES"/>
          </a:p>
        </p:txBody>
      </p:sp>
      <p:sp>
        <p:nvSpPr>
          <p:cNvPr id="4" name="Marcador de número de diapositiva 3">
            <a:extLst>
              <a:ext uri="{FF2B5EF4-FFF2-40B4-BE49-F238E27FC236}">
                <a16:creationId xmlns:a16="http://schemas.microsoft.com/office/drawing/2014/main" id="{380F3B1D-A571-4457-B534-7501713704AC}"/>
              </a:ext>
            </a:extLst>
          </p:cNvPr>
          <p:cNvSpPr>
            <a:spLocks noGrp="1"/>
          </p:cNvSpPr>
          <p:nvPr>
            <p:ph type="sldNum" sz="quarter" idx="12"/>
          </p:nvPr>
        </p:nvSpPr>
        <p:spPr/>
        <p:txBody>
          <a:bodyPr/>
          <a:lstStyle/>
          <a:p>
            <a:fld id="{6B5A57B2-1EBD-4091-B82A-048719E51FB6}" type="slidenum">
              <a:rPr lang="es-ES" smtClean="0"/>
              <a:pPr/>
              <a:t>43</a:t>
            </a:fld>
            <a:endParaRPr lang="es-ES"/>
          </a:p>
        </p:txBody>
      </p:sp>
    </p:spTree>
    <p:extLst>
      <p:ext uri="{BB962C8B-B14F-4D97-AF65-F5344CB8AC3E}">
        <p14:creationId xmlns:p14="http://schemas.microsoft.com/office/powerpoint/2010/main" val="126516295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AF9FDD3-5B75-4397-BC1E-83ACFA27F917}"/>
              </a:ext>
            </a:extLst>
          </p:cNvPr>
          <p:cNvSpPr>
            <a:spLocks noGrp="1"/>
          </p:cNvSpPr>
          <p:nvPr>
            <p:ph type="title"/>
          </p:nvPr>
        </p:nvSpPr>
        <p:spPr/>
        <p:txBody>
          <a:bodyPr/>
          <a:lstStyle/>
          <a:p>
            <a:r>
              <a:rPr lang="es-ES"/>
              <a:t>The W3C Recommendation Track</a:t>
            </a:r>
          </a:p>
        </p:txBody>
      </p:sp>
      <p:sp>
        <p:nvSpPr>
          <p:cNvPr id="3" name="Marcador de contenido 2">
            <a:extLst>
              <a:ext uri="{FF2B5EF4-FFF2-40B4-BE49-F238E27FC236}">
                <a16:creationId xmlns:a16="http://schemas.microsoft.com/office/drawing/2014/main" id="{AB6033B7-F64D-426A-8DCF-E431B93BF7FA}"/>
              </a:ext>
            </a:extLst>
          </p:cNvPr>
          <p:cNvSpPr>
            <a:spLocks noGrp="1"/>
          </p:cNvSpPr>
          <p:nvPr>
            <p:ph idx="1"/>
          </p:nvPr>
        </p:nvSpPr>
        <p:spPr>
          <a:xfrm>
            <a:off x="293298" y="1636863"/>
            <a:ext cx="8229600" cy="715927"/>
          </a:xfrm>
        </p:spPr>
        <p:txBody>
          <a:bodyPr/>
          <a:lstStyle/>
          <a:p>
            <a:r>
              <a:rPr lang="en-US"/>
              <a:t>Working Groups create specifications and guidelines to complete the scope of work envisioned by a Working Group's charter.</a:t>
            </a:r>
          </a:p>
          <a:p>
            <a:r>
              <a:rPr lang="en-US"/>
              <a:t>W3C may end work on a technical report at any time.</a:t>
            </a:r>
            <a:endParaRPr lang="es-ES"/>
          </a:p>
        </p:txBody>
      </p:sp>
      <p:sp>
        <p:nvSpPr>
          <p:cNvPr id="4" name="Marcador de número de diapositiva 3">
            <a:extLst>
              <a:ext uri="{FF2B5EF4-FFF2-40B4-BE49-F238E27FC236}">
                <a16:creationId xmlns:a16="http://schemas.microsoft.com/office/drawing/2014/main" id="{BD22A5DC-1A16-4B42-A057-A440894197B2}"/>
              </a:ext>
            </a:extLst>
          </p:cNvPr>
          <p:cNvSpPr>
            <a:spLocks noGrp="1"/>
          </p:cNvSpPr>
          <p:nvPr>
            <p:ph type="sldNum" sz="quarter" idx="12"/>
          </p:nvPr>
        </p:nvSpPr>
        <p:spPr/>
        <p:txBody>
          <a:bodyPr/>
          <a:lstStyle/>
          <a:p>
            <a:fld id="{6B5A57B2-1EBD-4091-B82A-048719E51FB6}" type="slidenum">
              <a:rPr lang="es-ES" smtClean="0"/>
              <a:pPr/>
              <a:t>44</a:t>
            </a:fld>
            <a:endParaRPr lang="es-ES"/>
          </a:p>
        </p:txBody>
      </p:sp>
      <p:pic>
        <p:nvPicPr>
          <p:cNvPr id="6" name="Imagen 5">
            <a:extLst>
              <a:ext uri="{FF2B5EF4-FFF2-40B4-BE49-F238E27FC236}">
                <a16:creationId xmlns:a16="http://schemas.microsoft.com/office/drawing/2014/main" id="{22EB69D3-C14E-453D-B508-6402F321609E}"/>
              </a:ext>
            </a:extLst>
          </p:cNvPr>
          <p:cNvPicPr>
            <a:picLocks noChangeAspect="1"/>
          </p:cNvPicPr>
          <p:nvPr/>
        </p:nvPicPr>
        <p:blipFill>
          <a:blip r:embed="rId3"/>
          <a:stretch>
            <a:fillRect/>
          </a:stretch>
        </p:blipFill>
        <p:spPr>
          <a:xfrm>
            <a:off x="84369" y="2718334"/>
            <a:ext cx="9091178" cy="2502803"/>
          </a:xfrm>
          <a:prstGeom prst="rect">
            <a:avLst/>
          </a:prstGeom>
        </p:spPr>
      </p:pic>
    </p:spTree>
    <p:extLst>
      <p:ext uri="{BB962C8B-B14F-4D97-AF65-F5344CB8AC3E}">
        <p14:creationId xmlns:p14="http://schemas.microsoft.com/office/powerpoint/2010/main" val="311297925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ACED40C-6988-4B06-A61E-CA2A6E50D690}"/>
              </a:ext>
            </a:extLst>
          </p:cNvPr>
          <p:cNvSpPr>
            <a:spLocks noGrp="1"/>
          </p:cNvSpPr>
          <p:nvPr>
            <p:ph type="title"/>
          </p:nvPr>
        </p:nvSpPr>
        <p:spPr/>
        <p:txBody>
          <a:bodyPr/>
          <a:lstStyle/>
          <a:p>
            <a:r>
              <a:rPr lang="es-ES"/>
              <a:t>Process of ODRL2.2</a:t>
            </a:r>
          </a:p>
        </p:txBody>
      </p:sp>
      <p:sp>
        <p:nvSpPr>
          <p:cNvPr id="3" name="Marcador de contenido 2">
            <a:extLst>
              <a:ext uri="{FF2B5EF4-FFF2-40B4-BE49-F238E27FC236}">
                <a16:creationId xmlns:a16="http://schemas.microsoft.com/office/drawing/2014/main" id="{B10AFA5E-FBB5-4FEF-840C-5AE41ECA9F44}"/>
              </a:ext>
            </a:extLst>
          </p:cNvPr>
          <p:cNvSpPr>
            <a:spLocks noGrp="1"/>
          </p:cNvSpPr>
          <p:nvPr>
            <p:ph idx="1"/>
          </p:nvPr>
        </p:nvSpPr>
        <p:spPr>
          <a:xfrm>
            <a:off x="130421" y="1360958"/>
            <a:ext cx="8229600" cy="3394472"/>
          </a:xfrm>
        </p:spPr>
        <p:txBody>
          <a:bodyPr/>
          <a:lstStyle/>
          <a:p>
            <a:r>
              <a:rPr lang="es-ES"/>
              <a:t>Use cases and requirements</a:t>
            </a:r>
          </a:p>
          <a:p>
            <a:pPr lvl="1"/>
            <a:r>
              <a:rPr lang="en-US"/>
              <a:t>27 use cases collected from the community</a:t>
            </a:r>
          </a:p>
          <a:p>
            <a:pPr lvl="1"/>
            <a:r>
              <a:rPr lang="en-US"/>
              <a:t>20 different people authored the use cases</a:t>
            </a:r>
          </a:p>
          <a:p>
            <a:pPr lvl="1"/>
            <a:r>
              <a:rPr lang="es-ES"/>
              <a:t>38 requirements</a:t>
            </a:r>
          </a:p>
          <a:p>
            <a:r>
              <a:rPr lang="es-ES"/>
              <a:t>Conformance</a:t>
            </a:r>
          </a:p>
          <a:p>
            <a:pPr lvl="1"/>
            <a:r>
              <a:rPr lang="en-US"/>
              <a:t>Conformance was checked through the validation of the </a:t>
            </a:r>
            <a:r>
              <a:rPr lang="en-US" b="1">
                <a:solidFill>
                  <a:srgbClr val="C00000"/>
                </a:solidFill>
              </a:rPr>
              <a:t>38 requirements</a:t>
            </a:r>
          </a:p>
          <a:p>
            <a:pPr lvl="1"/>
            <a:r>
              <a:rPr lang="en-US"/>
              <a:t>Normalisation process</a:t>
            </a:r>
          </a:p>
          <a:p>
            <a:pPr lvl="1"/>
            <a:r>
              <a:rPr lang="en-US"/>
              <a:t>Validator</a:t>
            </a:r>
          </a:p>
          <a:p>
            <a:r>
              <a:rPr lang="en-US"/>
              <a:t>Implementations</a:t>
            </a:r>
          </a:p>
          <a:p>
            <a:pPr lvl="1"/>
            <a:r>
              <a:rPr lang="en-US"/>
              <a:t>Universidad Politécnica de Madrid</a:t>
            </a:r>
          </a:p>
          <a:p>
            <a:pPr lvl="1"/>
            <a:r>
              <a:rPr lang="en-US"/>
              <a:t>International Press Telecommunications Council</a:t>
            </a:r>
          </a:p>
          <a:p>
            <a:pPr lvl="1"/>
            <a:r>
              <a:rPr lang="en-US"/>
              <a:t>Thomson Reuters</a:t>
            </a:r>
            <a:endParaRPr lang="es-ES"/>
          </a:p>
          <a:p>
            <a:endParaRPr lang="es-ES"/>
          </a:p>
        </p:txBody>
      </p:sp>
      <p:sp>
        <p:nvSpPr>
          <p:cNvPr id="4" name="Marcador de número de diapositiva 3">
            <a:extLst>
              <a:ext uri="{FF2B5EF4-FFF2-40B4-BE49-F238E27FC236}">
                <a16:creationId xmlns:a16="http://schemas.microsoft.com/office/drawing/2014/main" id="{66795393-85A0-4306-9922-F3747E5B3F7A}"/>
              </a:ext>
            </a:extLst>
          </p:cNvPr>
          <p:cNvSpPr>
            <a:spLocks noGrp="1"/>
          </p:cNvSpPr>
          <p:nvPr>
            <p:ph type="sldNum" sz="quarter" idx="12"/>
          </p:nvPr>
        </p:nvSpPr>
        <p:spPr/>
        <p:txBody>
          <a:bodyPr/>
          <a:lstStyle/>
          <a:p>
            <a:fld id="{6B5A57B2-1EBD-4091-B82A-048719E51FB6}" type="slidenum">
              <a:rPr lang="es-ES" smtClean="0"/>
              <a:pPr/>
              <a:t>45</a:t>
            </a:fld>
            <a:endParaRPr lang="es-ES"/>
          </a:p>
        </p:txBody>
      </p:sp>
    </p:spTree>
    <p:extLst>
      <p:ext uri="{BB962C8B-B14F-4D97-AF65-F5344CB8AC3E}">
        <p14:creationId xmlns:p14="http://schemas.microsoft.com/office/powerpoint/2010/main" val="12756380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983E0A6-47AE-4953-BF62-D0CAF2518AF6}"/>
              </a:ext>
            </a:extLst>
          </p:cNvPr>
          <p:cNvSpPr>
            <a:spLocks noGrp="1"/>
          </p:cNvSpPr>
          <p:nvPr>
            <p:ph type="title"/>
          </p:nvPr>
        </p:nvSpPr>
        <p:spPr/>
        <p:txBody>
          <a:bodyPr/>
          <a:lstStyle/>
          <a:p>
            <a:r>
              <a:rPr lang="es-ES"/>
              <a:t>Normalisation</a:t>
            </a:r>
          </a:p>
        </p:txBody>
      </p:sp>
      <p:sp>
        <p:nvSpPr>
          <p:cNvPr id="3" name="Marcador de contenido 2">
            <a:extLst>
              <a:ext uri="{FF2B5EF4-FFF2-40B4-BE49-F238E27FC236}">
                <a16:creationId xmlns:a16="http://schemas.microsoft.com/office/drawing/2014/main" id="{37728822-D0CA-4E0E-B414-F9EDC32ECCE9}"/>
              </a:ext>
            </a:extLst>
          </p:cNvPr>
          <p:cNvSpPr>
            <a:spLocks noGrp="1"/>
          </p:cNvSpPr>
          <p:nvPr>
            <p:ph idx="1"/>
          </p:nvPr>
        </p:nvSpPr>
        <p:spPr/>
        <p:txBody>
          <a:bodyPr/>
          <a:lstStyle/>
          <a:p>
            <a:r>
              <a:rPr lang="es-ES"/>
              <a:t>Different ODRL policies may convey the same information</a:t>
            </a:r>
          </a:p>
          <a:p>
            <a:r>
              <a:rPr lang="es-ES"/>
              <a:t>Normalisation transforms a policy into another equivalent, but in a normal form</a:t>
            </a:r>
          </a:p>
          <a:p>
            <a:r>
              <a:rPr lang="es-ES"/>
              <a:t>Example of normalisation:</a:t>
            </a:r>
          </a:p>
          <a:p>
            <a:pPr lvl="1"/>
            <a:r>
              <a:rPr lang="en-US"/>
              <a:t>N1. Internalisation of parties and assets declared out of the policy. </a:t>
            </a:r>
          </a:p>
          <a:p>
            <a:pPr lvl="1"/>
            <a:r>
              <a:rPr lang="en-US"/>
              <a:t>N2. Type declaration of policy elements. This transformation infers class types for Policy, Set, Permission, Duty, Constraint, and LogicalConstraint based on the ODRL Ontology and Information Model 2.1 rules..</a:t>
            </a:r>
          </a:p>
          <a:p>
            <a:pPr lvl="1"/>
            <a:r>
              <a:rPr lang="en-US"/>
              <a:t>...</a:t>
            </a:r>
          </a:p>
          <a:p>
            <a:pPr lvl="1"/>
            <a:r>
              <a:rPr lang="en-US"/>
              <a:t>Up to 10 were defined</a:t>
            </a:r>
            <a:endParaRPr lang="es-ES"/>
          </a:p>
        </p:txBody>
      </p:sp>
      <p:sp>
        <p:nvSpPr>
          <p:cNvPr id="4" name="Marcador de número de diapositiva 3">
            <a:extLst>
              <a:ext uri="{FF2B5EF4-FFF2-40B4-BE49-F238E27FC236}">
                <a16:creationId xmlns:a16="http://schemas.microsoft.com/office/drawing/2014/main" id="{BDB0DC1A-B34C-4E4D-B920-D76FC8988275}"/>
              </a:ext>
            </a:extLst>
          </p:cNvPr>
          <p:cNvSpPr>
            <a:spLocks noGrp="1"/>
          </p:cNvSpPr>
          <p:nvPr>
            <p:ph type="sldNum" sz="quarter" idx="12"/>
          </p:nvPr>
        </p:nvSpPr>
        <p:spPr/>
        <p:txBody>
          <a:bodyPr/>
          <a:lstStyle/>
          <a:p>
            <a:fld id="{6B5A57B2-1EBD-4091-B82A-048719E51FB6}" type="slidenum">
              <a:rPr lang="es-ES" smtClean="0"/>
              <a:pPr/>
              <a:t>46</a:t>
            </a:fld>
            <a:endParaRPr lang="es-ES"/>
          </a:p>
        </p:txBody>
      </p:sp>
    </p:spTree>
    <p:extLst>
      <p:ext uri="{BB962C8B-B14F-4D97-AF65-F5344CB8AC3E}">
        <p14:creationId xmlns:p14="http://schemas.microsoft.com/office/powerpoint/2010/main" val="82405732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7CA4B76-BA28-4DDA-972E-0D7EC66DD2EB}"/>
              </a:ext>
            </a:extLst>
          </p:cNvPr>
          <p:cNvSpPr>
            <a:spLocks noGrp="1"/>
          </p:cNvSpPr>
          <p:nvPr>
            <p:ph type="title"/>
          </p:nvPr>
        </p:nvSpPr>
        <p:spPr/>
        <p:txBody>
          <a:bodyPr/>
          <a:lstStyle/>
          <a:p>
            <a:r>
              <a:rPr lang="es-ES"/>
              <a:t>Validation rules</a:t>
            </a:r>
          </a:p>
        </p:txBody>
      </p:sp>
      <p:sp>
        <p:nvSpPr>
          <p:cNvPr id="3" name="Marcador de contenido 2">
            <a:extLst>
              <a:ext uri="{FF2B5EF4-FFF2-40B4-BE49-F238E27FC236}">
                <a16:creationId xmlns:a16="http://schemas.microsoft.com/office/drawing/2014/main" id="{2586B2A5-8C14-46CD-B3D3-A75DC3AC0495}"/>
              </a:ext>
            </a:extLst>
          </p:cNvPr>
          <p:cNvSpPr>
            <a:spLocks noGrp="1"/>
          </p:cNvSpPr>
          <p:nvPr>
            <p:ph idx="1"/>
          </p:nvPr>
        </p:nvSpPr>
        <p:spPr/>
        <p:txBody>
          <a:bodyPr/>
          <a:lstStyle/>
          <a:p>
            <a:r>
              <a:rPr lang="es-ES"/>
              <a:t>Some examples</a:t>
            </a:r>
          </a:p>
          <a:p>
            <a:pPr lvl="1"/>
            <a:r>
              <a:rPr lang="en-US"/>
              <a:t>V2. Every policy must have at least one rule</a:t>
            </a:r>
          </a:p>
          <a:p>
            <a:pPr lvl="1"/>
            <a:r>
              <a:rPr lang="en-US"/>
              <a:t>V3. Every policy must be identified by a URI</a:t>
            </a:r>
          </a:p>
          <a:p>
            <a:pPr lvl="1"/>
            <a:r>
              <a:rPr lang="en-US"/>
              <a:t>V8. No remedy can refer to a duty that includes a consequence duty</a:t>
            </a:r>
          </a:p>
          <a:p>
            <a:pPr lvl="1"/>
            <a:r>
              <a:rPr lang="en-US"/>
              <a:t>V9. Every AssetCollection with a refinement must have a source</a:t>
            </a:r>
          </a:p>
          <a:p>
            <a:pPr lvl="1"/>
            <a:r>
              <a:rPr lang="en-US"/>
              <a:t>V16. Every constraint must have exactly one right operand</a:t>
            </a:r>
          </a:p>
          <a:p>
            <a:pPr lvl="1"/>
            <a:r>
              <a:rPr lang="en-US"/>
              <a:t>...</a:t>
            </a:r>
          </a:p>
          <a:p>
            <a:r>
              <a:rPr lang="en-US"/>
              <a:t>Every validation had a SHACL shape</a:t>
            </a:r>
            <a:endParaRPr lang="es-ES"/>
          </a:p>
        </p:txBody>
      </p:sp>
      <p:sp>
        <p:nvSpPr>
          <p:cNvPr id="4" name="Marcador de número de diapositiva 3">
            <a:extLst>
              <a:ext uri="{FF2B5EF4-FFF2-40B4-BE49-F238E27FC236}">
                <a16:creationId xmlns:a16="http://schemas.microsoft.com/office/drawing/2014/main" id="{18F84A53-90D8-4E00-94FF-2DFFB8D22AC8}"/>
              </a:ext>
            </a:extLst>
          </p:cNvPr>
          <p:cNvSpPr>
            <a:spLocks noGrp="1"/>
          </p:cNvSpPr>
          <p:nvPr>
            <p:ph type="sldNum" sz="quarter" idx="12"/>
          </p:nvPr>
        </p:nvSpPr>
        <p:spPr/>
        <p:txBody>
          <a:bodyPr/>
          <a:lstStyle/>
          <a:p>
            <a:fld id="{6B5A57B2-1EBD-4091-B82A-048719E51FB6}" type="slidenum">
              <a:rPr lang="es-ES" smtClean="0"/>
              <a:pPr/>
              <a:t>47</a:t>
            </a:fld>
            <a:endParaRPr lang="es-ES"/>
          </a:p>
        </p:txBody>
      </p:sp>
    </p:spTree>
    <p:extLst>
      <p:ext uri="{BB962C8B-B14F-4D97-AF65-F5344CB8AC3E}">
        <p14:creationId xmlns:p14="http://schemas.microsoft.com/office/powerpoint/2010/main" val="863184807"/>
      </p:ext>
    </p:extLst>
  </p:cSld>
  <p:clrMapOvr>
    <a:masterClrMapping/>
  </p:clrMapOvr>
</p:sld>
</file>

<file path=ppt/theme/theme1.xml><?xml version="1.0" encoding="utf-8"?>
<a:theme xmlns:a="http://schemas.openxmlformats.org/drawingml/2006/main" name="Tema de Office">
  <a:themeElements>
    <a:clrScheme name="Azul cálido">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Wisp</Template>
  <TotalTime>6230</TotalTime>
  <Words>3003</Words>
  <Application>Microsoft Office PowerPoint</Application>
  <PresentationFormat>Presentación en pantalla (4:3)</PresentationFormat>
  <Paragraphs>391</Paragraphs>
  <Slides>47</Slides>
  <Notes>10</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47</vt:i4>
      </vt:variant>
    </vt:vector>
  </HeadingPairs>
  <TitlesOfParts>
    <vt:vector size="54" baseType="lpstr">
      <vt:lpstr>Arial</vt:lpstr>
      <vt:lpstr>Calibri</vt:lpstr>
      <vt:lpstr>Consolas</vt:lpstr>
      <vt:lpstr>Garamond</vt:lpstr>
      <vt:lpstr>Times New Roman</vt:lpstr>
      <vt:lpstr>Wingdings 2</vt:lpstr>
      <vt:lpstr>Tema de Office</vt:lpstr>
      <vt:lpstr>Introduction to policies, policy languages and ODRL</vt:lpstr>
      <vt:lpstr>What is a policy</vt:lpstr>
      <vt:lpstr>I want</vt:lpstr>
      <vt:lpstr>..and I can</vt:lpstr>
      <vt:lpstr>The expression is a policy</vt:lpstr>
      <vt:lpstr>Policy with legal value</vt:lpstr>
      <vt:lpstr>Policy with legal value</vt:lpstr>
      <vt:lpstr>Policy with technical force</vt:lpstr>
      <vt:lpstr>Policy with technical force</vt:lpstr>
      <vt:lpstr>The expression is a policy</vt:lpstr>
      <vt:lpstr>👉Exercise</vt:lpstr>
      <vt:lpstr>Syntax of a policy</vt:lpstr>
      <vt:lpstr>Presentación de PowerPoint</vt:lpstr>
      <vt:lpstr>Types of access control</vt:lpstr>
      <vt:lpstr>Types of access control</vt:lpstr>
      <vt:lpstr>XACML</vt:lpstr>
      <vt:lpstr>XACML eXtensible Access Control Markup Language</vt:lpstr>
      <vt:lpstr>XACML architecture</vt:lpstr>
      <vt:lpstr>XACML architecture</vt:lpstr>
      <vt:lpstr>XACML Architecture</vt:lpstr>
      <vt:lpstr>Usage scenario</vt:lpstr>
      <vt:lpstr>XACML Policy structure</vt:lpstr>
      <vt:lpstr>XACML Policy language model</vt:lpstr>
      <vt:lpstr>XACML  Request and response</vt:lpstr>
      <vt:lpstr>Combining algorithms</vt:lpstr>
      <vt:lpstr>Test Sun's XACML implementation</vt:lpstr>
      <vt:lpstr>request-door.xml</vt:lpstr>
      <vt:lpstr>policy.xml</vt:lpstr>
      <vt:lpstr>Response</vt:lpstr>
      <vt:lpstr>A second policy</vt:lpstr>
      <vt:lpstr>Test Sun's XACML implementation</vt:lpstr>
      <vt:lpstr>XACML Conformance</vt:lpstr>
      <vt:lpstr>Conformance</vt:lpstr>
      <vt:lpstr>Conformance Tests</vt:lpstr>
      <vt:lpstr>ODRL</vt:lpstr>
      <vt:lpstr>ODRL as an answer to a call</vt:lpstr>
      <vt:lpstr>History of ODRL: The context of RELs</vt:lpstr>
      <vt:lpstr>History of ODRL (2001-2011)</vt:lpstr>
      <vt:lpstr>ODRL 1.0</vt:lpstr>
      <vt:lpstr>Common pattern</vt:lpstr>
      <vt:lpstr>History of ODRL (2012 - 2016): ODRL W3C Community Group</vt:lpstr>
      <vt:lpstr>History of ODRL (2016 - 2018): W3C Permissions and Obligations Working Group</vt:lpstr>
      <vt:lpstr>History of ODRL: From 2018 </vt:lpstr>
      <vt:lpstr>The W3C Recommendation Track</vt:lpstr>
      <vt:lpstr>Process of ODRL2.2</vt:lpstr>
      <vt:lpstr>Normalisation</vt:lpstr>
      <vt:lpstr>Validation rules</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Víctor Rodríguez Doncel</dc:creator>
  <cp:lastModifiedBy>VICTOR RODRIGUEZ DONCEL</cp:lastModifiedBy>
  <cp:revision>371</cp:revision>
  <dcterms:created xsi:type="dcterms:W3CDTF">2013-02-06T14:27:30Z</dcterms:created>
  <dcterms:modified xsi:type="dcterms:W3CDTF">2026-04-27T11:50:12Z</dcterms:modified>
</cp:coreProperties>
</file>